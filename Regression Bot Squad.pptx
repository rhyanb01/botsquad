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6" r:id="rId8"/>
    <p:sldId id="267" r:id="rId9"/>
    <p:sldId id="262" r:id="rId10"/>
    <p:sldId id="264" r:id="rId11"/>
    <p:sldId id="265" r:id="rId12"/>
    <p:sldId id="268" r:id="rId13"/>
    <p:sldId id="269"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D2DB0F-405F-4031-B386-7C50F018220E}" v="32" dt="2025-10-20T15:13:58.6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99" d="100"/>
          <a:sy n="99" d="100"/>
        </p:scale>
        <p:origin x="108" y="2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hyan.bushi" userId="eec0dccf-83c4-4008-84b9-5afab432fcdf" providerId="ADAL" clId="{0259A982-A92F-416E-B5A8-35853655D925}"/>
    <pc:docChg chg="modSld">
      <pc:chgData name="rhyan.bushi" userId="eec0dccf-83c4-4008-84b9-5afab432fcdf" providerId="ADAL" clId="{0259A982-A92F-416E-B5A8-35853655D925}" dt="2025-10-20T15:13:53.513" v="18"/>
      <pc:docMkLst>
        <pc:docMk/>
      </pc:docMkLst>
      <pc:sldChg chg="addSp modSp modAnim">
        <pc:chgData name="rhyan.bushi" userId="eec0dccf-83c4-4008-84b9-5afab432fcdf" providerId="ADAL" clId="{0259A982-A92F-416E-B5A8-35853655D925}" dt="2025-10-20T15:05:51.066" v="11"/>
        <pc:sldMkLst>
          <pc:docMk/>
          <pc:sldMk cId="1652187409" sldId="269"/>
        </pc:sldMkLst>
        <pc:picChg chg="add mod">
          <ac:chgData name="rhyan.bushi" userId="eec0dccf-83c4-4008-84b9-5afab432fcdf" providerId="ADAL" clId="{0259A982-A92F-416E-B5A8-35853655D925}" dt="2025-10-20T15:05:28.810" v="2" actId="14100"/>
          <ac:picMkLst>
            <pc:docMk/>
            <pc:sldMk cId="1652187409" sldId="269"/>
            <ac:picMk id="4" creationId="{8DADE8A2-8457-E533-FCE3-0E4E54451EC7}"/>
          </ac:picMkLst>
        </pc:picChg>
        <pc:picChg chg="add mod">
          <ac:chgData name="rhyan.bushi" userId="eec0dccf-83c4-4008-84b9-5afab432fcdf" providerId="ADAL" clId="{0259A982-A92F-416E-B5A8-35853655D925}" dt="2025-10-20T15:05:35.760" v="5" actId="1076"/>
          <ac:picMkLst>
            <pc:docMk/>
            <pc:sldMk cId="1652187409" sldId="269"/>
            <ac:picMk id="1026" creationId="{4874878E-BD7D-97DC-46F5-F89ADE5FF825}"/>
          </ac:picMkLst>
        </pc:picChg>
      </pc:sldChg>
      <pc:sldChg chg="addSp modSp">
        <pc:chgData name="rhyan.bushi" userId="eec0dccf-83c4-4008-84b9-5afab432fcdf" providerId="ADAL" clId="{0259A982-A92F-416E-B5A8-35853655D925}" dt="2025-10-20T15:13:53.513" v="18"/>
        <pc:sldMkLst>
          <pc:docMk/>
          <pc:sldMk cId="2352162873" sldId="270"/>
        </pc:sldMkLst>
        <pc:spChg chg="mod">
          <ac:chgData name="rhyan.bushi" userId="eec0dccf-83c4-4008-84b9-5afab432fcdf" providerId="ADAL" clId="{0259A982-A92F-416E-B5A8-35853655D925}" dt="2025-10-20T15:11:52.784" v="12"/>
          <ac:spMkLst>
            <pc:docMk/>
            <pc:sldMk cId="2352162873" sldId="270"/>
            <ac:spMk id="3" creationId="{18394071-272C-6B40-A99C-F224155F8FBF}"/>
          </ac:spMkLst>
        </pc:spChg>
        <pc:picChg chg="add mod">
          <ac:chgData name="rhyan.bushi" userId="eec0dccf-83c4-4008-84b9-5afab432fcdf" providerId="ADAL" clId="{0259A982-A92F-416E-B5A8-35853655D925}" dt="2025-10-20T15:13:53.513" v="18"/>
          <ac:picMkLst>
            <pc:docMk/>
            <pc:sldMk cId="2352162873" sldId="270"/>
            <ac:picMk id="5" creationId="{ACD1F01D-A25E-C70F-3760-7C6E4EFB170F}"/>
          </ac:picMkLst>
        </pc:picChg>
        <pc:picChg chg="add mod">
          <ac:chgData name="rhyan.bushi" userId="eec0dccf-83c4-4008-84b9-5afab432fcdf" providerId="ADAL" clId="{0259A982-A92F-416E-B5A8-35853655D925}" dt="2025-10-20T15:12:54.627" v="17" actId="1076"/>
          <ac:picMkLst>
            <pc:docMk/>
            <pc:sldMk cId="2352162873" sldId="270"/>
            <ac:picMk id="2050" creationId="{45BAAA33-704D-1E8F-A243-B33B15CF3F9B}"/>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GB"/>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GB"/>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GB"/>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GB"/>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GB"/>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E61F07F-2073-4FDA-B3D2-12BC1E550285}" type="datetimeFigureOut">
              <a:rPr lang="en-GB" smtClean="0"/>
              <a:t>20/10/2025</a:t>
            </a:fld>
            <a:endParaRPr lang="en-GB"/>
          </a:p>
        </p:txBody>
      </p:sp>
      <p:sp>
        <p:nvSpPr>
          <p:cNvPr id="5" name="Footer Placeholder 4"/>
          <p:cNvSpPr>
            <a:spLocks noGrp="1"/>
          </p:cNvSpPr>
          <p:nvPr>
            <p:ph type="ftr" sz="quarter" idx="11"/>
          </p:nvPr>
        </p:nvSpPr>
        <p:spPr>
          <a:xfrm>
            <a:off x="1876424" y="5410201"/>
            <a:ext cx="5124886" cy="365125"/>
          </a:xfrm>
        </p:spPr>
        <p:txBody>
          <a:bodyPr/>
          <a:lstStyle/>
          <a:p>
            <a:endParaRPr lang="en-GB"/>
          </a:p>
        </p:txBody>
      </p:sp>
      <p:sp>
        <p:nvSpPr>
          <p:cNvPr id="6" name="Slide Number Placeholder 5"/>
          <p:cNvSpPr>
            <a:spLocks noGrp="1"/>
          </p:cNvSpPr>
          <p:nvPr>
            <p:ph type="sldNum" sz="quarter" idx="12"/>
          </p:nvPr>
        </p:nvSpPr>
        <p:spPr>
          <a:xfrm>
            <a:off x="9896911" y="5410199"/>
            <a:ext cx="771089" cy="365125"/>
          </a:xfrm>
        </p:spPr>
        <p:txBody>
          <a:bodyPr/>
          <a:lstStyle/>
          <a:p>
            <a:fld id="{5D7197E0-C5F0-471A-AC05-1B969FA6A63F}" type="slidenum">
              <a:rPr lang="en-GB" smtClean="0"/>
              <a:t>‹#›</a:t>
            </a:fld>
            <a:endParaRPr lang="en-GB"/>
          </a:p>
        </p:txBody>
      </p:sp>
    </p:spTree>
    <p:extLst>
      <p:ext uri="{BB962C8B-B14F-4D97-AF65-F5344CB8AC3E}">
        <p14:creationId xmlns:p14="http://schemas.microsoft.com/office/powerpoint/2010/main" val="7145993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E61F07F-2073-4FDA-B3D2-12BC1E550285}" type="datetimeFigureOut">
              <a:rPr lang="en-GB" smtClean="0"/>
              <a:t>20/10/2025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D7197E0-C5F0-471A-AC05-1B969FA6A63F}" type="slidenum">
              <a:rPr lang="en-GB" smtClean="0"/>
              <a:t>‹#›</a:t>
            </a:fld>
            <a:endParaRPr lang="en-GB"/>
          </a:p>
        </p:txBody>
      </p:sp>
    </p:spTree>
    <p:extLst>
      <p:ext uri="{BB962C8B-B14F-4D97-AF65-F5344CB8AC3E}">
        <p14:creationId xmlns:p14="http://schemas.microsoft.com/office/powerpoint/2010/main" val="1662279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GB"/>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E61F07F-2073-4FDA-B3D2-12BC1E550285}" type="datetimeFigureOut">
              <a:rPr lang="en-GB" smtClean="0"/>
              <a:t>20/10/2025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D7197E0-C5F0-471A-AC05-1B969FA6A63F}" type="slidenum">
              <a:rPr lang="en-GB" smtClean="0"/>
              <a:t>‹#›</a:t>
            </a:fld>
            <a:endParaRPr lang="en-GB"/>
          </a:p>
        </p:txBody>
      </p:sp>
    </p:spTree>
    <p:extLst>
      <p:ext uri="{BB962C8B-B14F-4D97-AF65-F5344CB8AC3E}">
        <p14:creationId xmlns:p14="http://schemas.microsoft.com/office/powerpoint/2010/main" val="3555394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4E61F07F-2073-4FDA-B3D2-12BC1E550285}" type="datetimeFigureOut">
              <a:rPr lang="en-GB" smtClean="0"/>
              <a:t>20/10/2025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D7197E0-C5F0-471A-AC05-1B969FA6A63F}" type="slidenum">
              <a:rPr lang="en-GB" smtClean="0"/>
              <a:t>‹#›</a:t>
            </a:fld>
            <a:endParaRPr lang="en-GB"/>
          </a:p>
        </p:txBody>
      </p:sp>
    </p:spTree>
    <p:extLst>
      <p:ext uri="{BB962C8B-B14F-4D97-AF65-F5344CB8AC3E}">
        <p14:creationId xmlns:p14="http://schemas.microsoft.com/office/powerpoint/2010/main" val="3262993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GB"/>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4E61F07F-2073-4FDA-B3D2-12BC1E550285}" type="datetimeFigureOut">
              <a:rPr lang="en-GB" smtClean="0"/>
              <a:t>20/10/2025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D7197E0-C5F0-471A-AC05-1B969FA6A63F}" type="slidenum">
              <a:rPr lang="en-GB" smtClean="0"/>
              <a:t>‹#›</a:t>
            </a:fld>
            <a:endParaRPr lang="en-GB"/>
          </a:p>
        </p:txBody>
      </p:sp>
    </p:spTree>
    <p:extLst>
      <p:ext uri="{BB962C8B-B14F-4D97-AF65-F5344CB8AC3E}">
        <p14:creationId xmlns:p14="http://schemas.microsoft.com/office/powerpoint/2010/main" val="3617033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4E61F07F-2073-4FDA-B3D2-12BC1E550285}" type="datetimeFigureOut">
              <a:rPr lang="en-GB" smtClean="0"/>
              <a:t>20/10/2025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D7197E0-C5F0-471A-AC05-1B969FA6A63F}" type="slidenum">
              <a:rPr lang="en-GB" smtClean="0"/>
              <a:t>‹#›</a:t>
            </a:fld>
            <a:endParaRPr lang="en-GB"/>
          </a:p>
        </p:txBody>
      </p:sp>
    </p:spTree>
    <p:extLst>
      <p:ext uri="{BB962C8B-B14F-4D97-AF65-F5344CB8AC3E}">
        <p14:creationId xmlns:p14="http://schemas.microsoft.com/office/powerpoint/2010/main" val="2172007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61F07F-2073-4FDA-B3D2-12BC1E550285}" type="datetimeFigureOut">
              <a:rPr lang="en-GB" smtClean="0"/>
              <a:t>20/10/2025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D7197E0-C5F0-471A-AC05-1B969FA6A63F}" type="slidenum">
              <a:rPr lang="en-GB" smtClean="0"/>
              <a:t>‹#›</a:t>
            </a:fld>
            <a:endParaRPr lang="en-GB"/>
          </a:p>
        </p:txBody>
      </p:sp>
    </p:spTree>
    <p:extLst>
      <p:ext uri="{BB962C8B-B14F-4D97-AF65-F5344CB8AC3E}">
        <p14:creationId xmlns:p14="http://schemas.microsoft.com/office/powerpoint/2010/main" val="12118321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E61F07F-2073-4FDA-B3D2-12BC1E550285}" type="datetimeFigureOut">
              <a:rPr lang="en-GB" smtClean="0"/>
              <a:t>20/10/2025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D7197E0-C5F0-471A-AC05-1B969FA6A63F}" type="slidenum">
              <a:rPr lang="en-GB" smtClean="0"/>
              <a:t>‹#›</a:t>
            </a:fld>
            <a:endParaRPr lang="en-GB"/>
          </a:p>
        </p:txBody>
      </p:sp>
    </p:spTree>
    <p:extLst>
      <p:ext uri="{BB962C8B-B14F-4D97-AF65-F5344CB8AC3E}">
        <p14:creationId xmlns:p14="http://schemas.microsoft.com/office/powerpoint/2010/main" val="2007209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E61F07F-2073-4FDA-B3D2-12BC1E550285}" type="datetimeFigureOut">
              <a:rPr lang="en-GB" smtClean="0"/>
              <a:t>20/10/2025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D7197E0-C5F0-471A-AC05-1B969FA6A63F}" type="slidenum">
              <a:rPr lang="en-GB" smtClean="0"/>
              <a:t>‹#›</a:t>
            </a:fld>
            <a:endParaRPr lang="en-GB"/>
          </a:p>
        </p:txBody>
      </p:sp>
    </p:spTree>
    <p:extLst>
      <p:ext uri="{BB962C8B-B14F-4D97-AF65-F5344CB8AC3E}">
        <p14:creationId xmlns:p14="http://schemas.microsoft.com/office/powerpoint/2010/main" val="36726842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GB"/>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E61F07F-2073-4FDA-B3D2-12BC1E550285}" type="datetimeFigureOut">
              <a:rPr lang="en-GB" smtClean="0"/>
              <a:t>20/10/2025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D7197E0-C5F0-471A-AC05-1B969FA6A63F}" type="slidenum">
              <a:rPr lang="en-GB" smtClean="0"/>
              <a:t>‹#›</a:t>
            </a:fld>
            <a:endParaRPr lang="en-GB"/>
          </a:p>
        </p:txBody>
      </p:sp>
    </p:spTree>
    <p:extLst>
      <p:ext uri="{BB962C8B-B14F-4D97-AF65-F5344CB8AC3E}">
        <p14:creationId xmlns:p14="http://schemas.microsoft.com/office/powerpoint/2010/main" val="1392894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GB"/>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E61F07F-2073-4FDA-B3D2-12BC1E550285}" type="datetimeFigureOut">
              <a:rPr lang="en-GB" smtClean="0"/>
              <a:t>20/10/2025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D7197E0-C5F0-471A-AC05-1B969FA6A63F}" type="slidenum">
              <a:rPr lang="en-GB" smtClean="0"/>
              <a:t>‹#›</a:t>
            </a:fld>
            <a:endParaRPr lang="en-GB"/>
          </a:p>
        </p:txBody>
      </p:sp>
    </p:spTree>
    <p:extLst>
      <p:ext uri="{BB962C8B-B14F-4D97-AF65-F5344CB8AC3E}">
        <p14:creationId xmlns:p14="http://schemas.microsoft.com/office/powerpoint/2010/main" val="27742162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GB"/>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E61F07F-2073-4FDA-B3D2-12BC1E550285}" type="datetimeFigureOut">
              <a:rPr lang="en-GB" smtClean="0"/>
              <a:t>20/10/2025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D7197E0-C5F0-471A-AC05-1B969FA6A63F}" type="slidenum">
              <a:rPr lang="en-GB" smtClean="0"/>
              <a:t>‹#›</a:t>
            </a:fld>
            <a:endParaRPr lang="en-GB"/>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2041555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GB"/>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E61F07F-2073-4FDA-B3D2-12BC1E550285}" type="datetimeFigureOut">
              <a:rPr lang="en-GB" smtClean="0"/>
              <a:t>20/10/2025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D7197E0-C5F0-471A-AC05-1B969FA6A63F}" type="slidenum">
              <a:rPr lang="en-GB" smtClean="0"/>
              <a:t>‹#›</a:t>
            </a:fld>
            <a:endParaRPr lang="en-GB"/>
          </a:p>
        </p:txBody>
      </p:sp>
    </p:spTree>
    <p:extLst>
      <p:ext uri="{BB962C8B-B14F-4D97-AF65-F5344CB8AC3E}">
        <p14:creationId xmlns:p14="http://schemas.microsoft.com/office/powerpoint/2010/main" val="391686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GB"/>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4E61F07F-2073-4FDA-B3D2-12BC1E550285}" type="datetimeFigureOut">
              <a:rPr lang="en-GB" smtClean="0"/>
              <a:t>20/10/2025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D7197E0-C5F0-471A-AC05-1B969FA6A63F}" type="slidenum">
              <a:rPr lang="en-GB" smtClean="0"/>
              <a:t>‹#›</a:t>
            </a:fld>
            <a:endParaRPr lang="en-GB"/>
          </a:p>
        </p:txBody>
      </p:sp>
    </p:spTree>
    <p:extLst>
      <p:ext uri="{BB962C8B-B14F-4D97-AF65-F5344CB8AC3E}">
        <p14:creationId xmlns:p14="http://schemas.microsoft.com/office/powerpoint/2010/main" val="23414163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GB"/>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4E61F07F-2073-4FDA-B3D2-12BC1E550285}" type="datetimeFigureOut">
              <a:rPr lang="en-GB" smtClean="0"/>
              <a:t>20/10/2025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D7197E0-C5F0-471A-AC05-1B969FA6A63F}" type="slidenum">
              <a:rPr lang="en-GB" smtClean="0"/>
              <a:t>‹#›</a:t>
            </a:fld>
            <a:endParaRPr lang="en-GB"/>
          </a:p>
        </p:txBody>
      </p:sp>
    </p:spTree>
    <p:extLst>
      <p:ext uri="{BB962C8B-B14F-4D97-AF65-F5344CB8AC3E}">
        <p14:creationId xmlns:p14="http://schemas.microsoft.com/office/powerpoint/2010/main" val="33665405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E61F07F-2073-4FDA-B3D2-12BC1E550285}" type="datetimeFigureOut">
              <a:rPr lang="en-GB" smtClean="0"/>
              <a:t>20/10/2025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D7197E0-C5F0-471A-AC05-1B969FA6A63F}" type="slidenum">
              <a:rPr lang="en-GB" smtClean="0"/>
              <a:t>‹#›</a:t>
            </a:fld>
            <a:endParaRPr lang="en-GB"/>
          </a:p>
        </p:txBody>
      </p:sp>
    </p:spTree>
    <p:extLst>
      <p:ext uri="{BB962C8B-B14F-4D97-AF65-F5344CB8AC3E}">
        <p14:creationId xmlns:p14="http://schemas.microsoft.com/office/powerpoint/2010/main" val="12002718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E61F07F-2073-4FDA-B3D2-12BC1E550285}" type="datetimeFigureOut">
              <a:rPr lang="en-GB" smtClean="0"/>
              <a:t>20/10/2025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D7197E0-C5F0-471A-AC05-1B969FA6A63F}" type="slidenum">
              <a:rPr lang="en-GB" smtClean="0"/>
              <a:t>‹#›</a:t>
            </a:fld>
            <a:endParaRPr lang="en-GB"/>
          </a:p>
        </p:txBody>
      </p:sp>
    </p:spTree>
    <p:extLst>
      <p:ext uri="{BB962C8B-B14F-4D97-AF65-F5344CB8AC3E}">
        <p14:creationId xmlns:p14="http://schemas.microsoft.com/office/powerpoint/2010/main" val="3162100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GB"/>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GB"/>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GB"/>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E61F07F-2073-4FDA-B3D2-12BC1E550285}" type="datetimeFigureOut">
              <a:rPr lang="en-GB" smtClean="0"/>
              <a:t>20/10/2025</a:t>
            </a:fld>
            <a:endParaRPr lang="en-GB"/>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D7197E0-C5F0-471A-AC05-1B969FA6A63F}" type="slidenum">
              <a:rPr lang="en-GB" smtClean="0"/>
              <a:t>‹#›</a:t>
            </a:fld>
            <a:endParaRPr lang="en-GB"/>
          </a:p>
        </p:txBody>
      </p:sp>
    </p:spTree>
    <p:extLst>
      <p:ext uri="{BB962C8B-B14F-4D97-AF65-F5344CB8AC3E}">
        <p14:creationId xmlns:p14="http://schemas.microsoft.com/office/powerpoint/2010/main" val="378882061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gif"/><Relationship Id="rId1" Type="http://schemas.openxmlformats.org/officeDocument/2006/relationships/slideLayout" Target="../slideLayouts/slideLayout2.xml"/><Relationship Id="rId4" Type="http://schemas.openxmlformats.org/officeDocument/2006/relationships/image" Target="../media/image2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ACEE4-EDB0-8E49-F4C5-C25B40DCB488}"/>
              </a:ext>
            </a:extLst>
          </p:cNvPr>
          <p:cNvSpPr>
            <a:spLocks noGrp="1"/>
          </p:cNvSpPr>
          <p:nvPr>
            <p:ph type="ctrTitle"/>
          </p:nvPr>
        </p:nvSpPr>
        <p:spPr>
          <a:xfrm>
            <a:off x="3290886" y="2778125"/>
            <a:ext cx="5610226" cy="792163"/>
          </a:xfrm>
        </p:spPr>
        <p:txBody>
          <a:bodyPr>
            <a:normAutofit/>
          </a:bodyPr>
          <a:lstStyle/>
          <a:p>
            <a:r>
              <a:rPr lang="en-GB" dirty="0"/>
              <a:t>Bot squad week 3 </a:t>
            </a:r>
          </a:p>
        </p:txBody>
      </p:sp>
      <p:sp>
        <p:nvSpPr>
          <p:cNvPr id="3" name="Subtitle 2">
            <a:extLst>
              <a:ext uri="{FF2B5EF4-FFF2-40B4-BE49-F238E27FC236}">
                <a16:creationId xmlns:a16="http://schemas.microsoft.com/office/drawing/2014/main" id="{3A62EFD4-14BC-027C-FA7B-C120642EBACB}"/>
              </a:ext>
            </a:extLst>
          </p:cNvPr>
          <p:cNvSpPr>
            <a:spLocks noGrp="1"/>
          </p:cNvSpPr>
          <p:nvPr>
            <p:ph type="subTitle" idx="1"/>
          </p:nvPr>
        </p:nvSpPr>
        <p:spPr>
          <a:xfrm>
            <a:off x="4944268" y="3570288"/>
            <a:ext cx="2303463" cy="665162"/>
          </a:xfrm>
        </p:spPr>
        <p:txBody>
          <a:bodyPr>
            <a:noAutofit/>
          </a:bodyPr>
          <a:lstStyle/>
          <a:p>
            <a:r>
              <a:rPr lang="en-GB" sz="3000" dirty="0"/>
              <a:t>Regression</a:t>
            </a:r>
          </a:p>
        </p:txBody>
      </p:sp>
    </p:spTree>
    <p:extLst>
      <p:ext uri="{BB962C8B-B14F-4D97-AF65-F5344CB8AC3E}">
        <p14:creationId xmlns:p14="http://schemas.microsoft.com/office/powerpoint/2010/main" val="40423550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8393C-5ECA-EDDB-122D-0A1445863EB0}"/>
              </a:ext>
            </a:extLst>
          </p:cNvPr>
          <p:cNvSpPr>
            <a:spLocks noGrp="1"/>
          </p:cNvSpPr>
          <p:nvPr>
            <p:ph type="title"/>
          </p:nvPr>
        </p:nvSpPr>
        <p:spPr/>
        <p:txBody>
          <a:bodyPr/>
          <a:lstStyle/>
          <a:p>
            <a:r>
              <a:rPr lang="en-GB" dirty="0"/>
              <a:t>What is regression?</a:t>
            </a:r>
          </a:p>
        </p:txBody>
      </p:sp>
      <p:sp>
        <p:nvSpPr>
          <p:cNvPr id="3" name="Content Placeholder 2">
            <a:extLst>
              <a:ext uri="{FF2B5EF4-FFF2-40B4-BE49-F238E27FC236}">
                <a16:creationId xmlns:a16="http://schemas.microsoft.com/office/drawing/2014/main" id="{4D08E8D2-2303-027D-8252-0B9E660DD974}"/>
              </a:ext>
            </a:extLst>
          </p:cNvPr>
          <p:cNvSpPr>
            <a:spLocks noGrp="1"/>
          </p:cNvSpPr>
          <p:nvPr>
            <p:ph idx="1"/>
          </p:nvPr>
        </p:nvSpPr>
        <p:spPr>
          <a:xfrm>
            <a:off x="1141412" y="2249487"/>
            <a:ext cx="9905999" cy="3098690"/>
          </a:xfrm>
        </p:spPr>
        <p:txBody>
          <a:bodyPr/>
          <a:lstStyle/>
          <a:p>
            <a:r>
              <a:rPr lang="en-GB" dirty="0"/>
              <a:t>Regression is a statistical ML technique used to analyse the relationship between a dependent variable and one or more independent Variables.</a:t>
            </a:r>
          </a:p>
          <a:p>
            <a:r>
              <a:rPr lang="en-GB" dirty="0"/>
              <a:t>Primarily used for predictive modelling and understanding how changes in the independent variables can influence the outcome.</a:t>
            </a:r>
          </a:p>
        </p:txBody>
      </p:sp>
      <p:sp>
        <p:nvSpPr>
          <p:cNvPr id="5" name="Content Placeholder 2">
            <a:extLst>
              <a:ext uri="{FF2B5EF4-FFF2-40B4-BE49-F238E27FC236}">
                <a16:creationId xmlns:a16="http://schemas.microsoft.com/office/drawing/2014/main" id="{CD86D7D6-00E9-9155-87C4-10A59BC1A541}"/>
              </a:ext>
            </a:extLst>
          </p:cNvPr>
          <p:cNvSpPr txBox="1">
            <a:spLocks/>
          </p:cNvSpPr>
          <p:nvPr/>
        </p:nvSpPr>
        <p:spPr>
          <a:xfrm>
            <a:off x="1141411" y="3833739"/>
            <a:ext cx="9905999" cy="117951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endParaRPr lang="en-GB" dirty="0"/>
          </a:p>
        </p:txBody>
      </p:sp>
    </p:spTree>
    <p:extLst>
      <p:ext uri="{BB962C8B-B14F-4D97-AF65-F5344CB8AC3E}">
        <p14:creationId xmlns:p14="http://schemas.microsoft.com/office/powerpoint/2010/main" val="18230892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nodePh="1">
                                  <p:stCondLst>
                                    <p:cond delay="0"/>
                                  </p:stCondLst>
                                  <p:endCondLst>
                                    <p:cond evt="begin" delay="0">
                                      <p:tn val="17"/>
                                    </p:cond>
                                  </p:endCondLst>
                                  <p:childTnLst>
                                    <p:set>
                                      <p:cBhvr>
                                        <p:cTn id="18" dur="1" fill="hold">
                                          <p:stCondLst>
                                            <p:cond delay="0"/>
                                          </p:stCondLst>
                                        </p:cTn>
                                        <p:tgtEl>
                                          <p:spTgt spid="5">
                                            <p:txEl>
                                              <p:pRg st="0" end="0"/>
                                            </p:txEl>
                                          </p:spTgt>
                                        </p:tgtEl>
                                        <p:attrNameLst>
                                          <p:attrName>style.visibility</p:attrName>
                                        </p:attrNameLst>
                                      </p:cBhvr>
                                      <p:to>
                                        <p:strVal val="visible"/>
                                      </p:to>
                                    </p:set>
                                    <p:anim calcmode="lin" valueType="num">
                                      <p:cBhvr additive="base">
                                        <p:cTn id="19"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3E422-6456-2602-C33E-EFA056E2302A}"/>
              </a:ext>
            </a:extLst>
          </p:cNvPr>
          <p:cNvSpPr>
            <a:spLocks noGrp="1"/>
          </p:cNvSpPr>
          <p:nvPr>
            <p:ph type="title"/>
          </p:nvPr>
        </p:nvSpPr>
        <p:spPr/>
        <p:txBody>
          <a:bodyPr/>
          <a:lstStyle/>
          <a:p>
            <a:r>
              <a:rPr lang="en-GB" dirty="0"/>
              <a:t>What are the main types of regression?</a:t>
            </a:r>
          </a:p>
        </p:txBody>
      </p:sp>
      <p:sp>
        <p:nvSpPr>
          <p:cNvPr id="3" name="Content Placeholder 2">
            <a:extLst>
              <a:ext uri="{FF2B5EF4-FFF2-40B4-BE49-F238E27FC236}">
                <a16:creationId xmlns:a16="http://schemas.microsoft.com/office/drawing/2014/main" id="{5B0ECD29-544F-8872-5EA9-6B24F7F39111}"/>
              </a:ext>
            </a:extLst>
          </p:cNvPr>
          <p:cNvSpPr>
            <a:spLocks noGrp="1"/>
          </p:cNvSpPr>
          <p:nvPr>
            <p:ph idx="1"/>
          </p:nvPr>
        </p:nvSpPr>
        <p:spPr>
          <a:xfrm>
            <a:off x="1141413" y="2256577"/>
            <a:ext cx="3239202" cy="738262"/>
          </a:xfrm>
        </p:spPr>
        <p:txBody>
          <a:bodyPr/>
          <a:lstStyle/>
          <a:p>
            <a:r>
              <a:rPr lang="en-GB" dirty="0"/>
              <a:t>Linear Regression </a:t>
            </a:r>
          </a:p>
        </p:txBody>
      </p:sp>
      <p:sp>
        <p:nvSpPr>
          <p:cNvPr id="4" name="Content Placeholder 2">
            <a:extLst>
              <a:ext uri="{FF2B5EF4-FFF2-40B4-BE49-F238E27FC236}">
                <a16:creationId xmlns:a16="http://schemas.microsoft.com/office/drawing/2014/main" id="{D43C71F8-C50A-4E69-6C95-11DF2F793E24}"/>
              </a:ext>
            </a:extLst>
          </p:cNvPr>
          <p:cNvSpPr txBox="1">
            <a:spLocks/>
          </p:cNvSpPr>
          <p:nvPr/>
        </p:nvSpPr>
        <p:spPr>
          <a:xfrm>
            <a:off x="1141413" y="3266670"/>
            <a:ext cx="3239202" cy="738262"/>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GB" dirty="0"/>
              <a:t>Decision Tree Regression </a:t>
            </a:r>
          </a:p>
        </p:txBody>
      </p:sp>
      <p:sp>
        <p:nvSpPr>
          <p:cNvPr id="5" name="Content Placeholder 2">
            <a:extLst>
              <a:ext uri="{FF2B5EF4-FFF2-40B4-BE49-F238E27FC236}">
                <a16:creationId xmlns:a16="http://schemas.microsoft.com/office/drawing/2014/main" id="{0CEAFA66-1BF1-433E-53EE-4ADB202241F7}"/>
              </a:ext>
            </a:extLst>
          </p:cNvPr>
          <p:cNvSpPr txBox="1">
            <a:spLocks/>
          </p:cNvSpPr>
          <p:nvPr/>
        </p:nvSpPr>
        <p:spPr>
          <a:xfrm>
            <a:off x="1141413" y="4276763"/>
            <a:ext cx="3239202" cy="738262"/>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GB" dirty="0"/>
              <a:t>Random Forest Regression</a:t>
            </a:r>
          </a:p>
        </p:txBody>
      </p:sp>
      <p:sp>
        <p:nvSpPr>
          <p:cNvPr id="6" name="Content Placeholder 2">
            <a:extLst>
              <a:ext uri="{FF2B5EF4-FFF2-40B4-BE49-F238E27FC236}">
                <a16:creationId xmlns:a16="http://schemas.microsoft.com/office/drawing/2014/main" id="{610B2C48-058D-503F-C2AD-007A437ED74E}"/>
              </a:ext>
            </a:extLst>
          </p:cNvPr>
          <p:cNvSpPr txBox="1">
            <a:spLocks/>
          </p:cNvSpPr>
          <p:nvPr/>
        </p:nvSpPr>
        <p:spPr>
          <a:xfrm>
            <a:off x="1141413" y="5286856"/>
            <a:ext cx="3239202" cy="73826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GB" dirty="0"/>
              <a:t>Bayesian Regression</a:t>
            </a:r>
          </a:p>
        </p:txBody>
      </p:sp>
      <p:pic>
        <p:nvPicPr>
          <p:cNvPr id="8" name="Picture 7">
            <a:extLst>
              <a:ext uri="{FF2B5EF4-FFF2-40B4-BE49-F238E27FC236}">
                <a16:creationId xmlns:a16="http://schemas.microsoft.com/office/drawing/2014/main" id="{B4F3B925-78A9-036E-A1E0-E1610C95C0FF}"/>
              </a:ext>
            </a:extLst>
          </p:cNvPr>
          <p:cNvPicPr>
            <a:picLocks noChangeAspect="1"/>
          </p:cNvPicPr>
          <p:nvPr/>
        </p:nvPicPr>
        <p:blipFill>
          <a:blip r:embed="rId2"/>
          <a:stretch>
            <a:fillRect/>
          </a:stretch>
        </p:blipFill>
        <p:spPr>
          <a:xfrm>
            <a:off x="5535355" y="1809282"/>
            <a:ext cx="5299222" cy="4083518"/>
          </a:xfrm>
          <a:prstGeom prst="rect">
            <a:avLst/>
          </a:prstGeom>
        </p:spPr>
      </p:pic>
      <p:pic>
        <p:nvPicPr>
          <p:cNvPr id="9" name="Picture 8">
            <a:extLst>
              <a:ext uri="{FF2B5EF4-FFF2-40B4-BE49-F238E27FC236}">
                <a16:creationId xmlns:a16="http://schemas.microsoft.com/office/drawing/2014/main" id="{8742D429-07AF-BD15-D738-2419220BAF7C}"/>
              </a:ext>
            </a:extLst>
          </p:cNvPr>
          <p:cNvPicPr>
            <a:picLocks noChangeAspect="1"/>
          </p:cNvPicPr>
          <p:nvPr/>
        </p:nvPicPr>
        <p:blipFill>
          <a:blip r:embed="rId3"/>
          <a:stretch>
            <a:fillRect/>
          </a:stretch>
        </p:blipFill>
        <p:spPr>
          <a:xfrm>
            <a:off x="5103422" y="1809282"/>
            <a:ext cx="6163087" cy="4083518"/>
          </a:xfrm>
          <a:prstGeom prst="rect">
            <a:avLst/>
          </a:prstGeom>
        </p:spPr>
      </p:pic>
      <p:pic>
        <p:nvPicPr>
          <p:cNvPr id="10" name="Picture 9">
            <a:extLst>
              <a:ext uri="{FF2B5EF4-FFF2-40B4-BE49-F238E27FC236}">
                <a16:creationId xmlns:a16="http://schemas.microsoft.com/office/drawing/2014/main" id="{9D09C00D-91EC-7BAD-2E0F-DE1E7DC9588B}"/>
              </a:ext>
            </a:extLst>
          </p:cNvPr>
          <p:cNvPicPr>
            <a:picLocks noChangeAspect="1"/>
          </p:cNvPicPr>
          <p:nvPr/>
        </p:nvPicPr>
        <p:blipFill>
          <a:blip r:embed="rId4"/>
          <a:stretch>
            <a:fillRect/>
          </a:stretch>
        </p:blipFill>
        <p:spPr>
          <a:xfrm>
            <a:off x="4737912" y="1809282"/>
            <a:ext cx="6894106" cy="4083518"/>
          </a:xfrm>
          <a:prstGeom prst="rect">
            <a:avLst/>
          </a:prstGeom>
        </p:spPr>
      </p:pic>
      <p:pic>
        <p:nvPicPr>
          <p:cNvPr id="11" name="Picture 10">
            <a:extLst>
              <a:ext uri="{FF2B5EF4-FFF2-40B4-BE49-F238E27FC236}">
                <a16:creationId xmlns:a16="http://schemas.microsoft.com/office/drawing/2014/main" id="{A92E35E6-3A37-EC8F-13AA-3BF2AF2D91DB}"/>
              </a:ext>
            </a:extLst>
          </p:cNvPr>
          <p:cNvPicPr>
            <a:picLocks noChangeAspect="1"/>
          </p:cNvPicPr>
          <p:nvPr/>
        </p:nvPicPr>
        <p:blipFill>
          <a:blip r:embed="rId5"/>
          <a:stretch>
            <a:fillRect/>
          </a:stretch>
        </p:blipFill>
        <p:spPr>
          <a:xfrm>
            <a:off x="4847718" y="1716965"/>
            <a:ext cx="6378341" cy="4555958"/>
          </a:xfrm>
          <a:prstGeom prst="rect">
            <a:avLst/>
          </a:prstGeom>
        </p:spPr>
      </p:pic>
    </p:spTree>
    <p:extLst>
      <p:ext uri="{BB962C8B-B14F-4D97-AF65-F5344CB8AC3E}">
        <p14:creationId xmlns:p14="http://schemas.microsoft.com/office/powerpoint/2010/main" val="2533012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nodeType="clickEffect">
                                  <p:stCondLst>
                                    <p:cond delay="0"/>
                                  </p:stCondLst>
                                  <p:childTnLst>
                                    <p:animEffect transition="out" filter="fade">
                                      <p:cBhvr>
                                        <p:cTn id="20" dur="500"/>
                                        <p:tgtEl>
                                          <p:spTgt spid="8"/>
                                        </p:tgtEl>
                                      </p:cBhvr>
                                    </p:animEffect>
                                    <p:set>
                                      <p:cBhvr>
                                        <p:cTn id="21" dur="1" fill="hold">
                                          <p:stCondLst>
                                            <p:cond delay="499"/>
                                          </p:stCondLst>
                                        </p:cTn>
                                        <p:tgtEl>
                                          <p:spTgt spid="8"/>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1000"/>
                                        <p:tgtEl>
                                          <p:spTgt spid="4"/>
                                        </p:tgtEl>
                                      </p:cBhvr>
                                    </p:animEffect>
                                    <p:anim calcmode="lin" valueType="num">
                                      <p:cBhvr>
                                        <p:cTn id="27" dur="1000" fill="hold"/>
                                        <p:tgtEl>
                                          <p:spTgt spid="4"/>
                                        </p:tgtEl>
                                        <p:attrNameLst>
                                          <p:attrName>ppt_x</p:attrName>
                                        </p:attrNameLst>
                                      </p:cBhvr>
                                      <p:tavLst>
                                        <p:tav tm="0">
                                          <p:val>
                                            <p:strVal val="#ppt_x"/>
                                          </p:val>
                                        </p:tav>
                                        <p:tav tm="100000">
                                          <p:val>
                                            <p:strVal val="#ppt_x"/>
                                          </p:val>
                                        </p:tav>
                                      </p:tavLst>
                                    </p:anim>
                                    <p:anim calcmode="lin" valueType="num">
                                      <p:cBhvr>
                                        <p:cTn id="2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1000"/>
                                        <p:tgtEl>
                                          <p:spTgt spid="9"/>
                                        </p:tgtEl>
                                      </p:cBhvr>
                                    </p:animEffect>
                                    <p:anim calcmode="lin" valueType="num">
                                      <p:cBhvr>
                                        <p:cTn id="34" dur="1000" fill="hold"/>
                                        <p:tgtEl>
                                          <p:spTgt spid="9"/>
                                        </p:tgtEl>
                                        <p:attrNameLst>
                                          <p:attrName>ppt_x</p:attrName>
                                        </p:attrNameLst>
                                      </p:cBhvr>
                                      <p:tavLst>
                                        <p:tav tm="0">
                                          <p:val>
                                            <p:strVal val="#ppt_x"/>
                                          </p:val>
                                        </p:tav>
                                        <p:tav tm="100000">
                                          <p:val>
                                            <p:strVal val="#ppt_x"/>
                                          </p:val>
                                        </p:tav>
                                      </p:tavLst>
                                    </p:anim>
                                    <p:anim calcmode="lin" valueType="num">
                                      <p:cBhvr>
                                        <p:cTn id="3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xit" presetSubtype="0" fill="hold" nodeType="clickEffect">
                                  <p:stCondLst>
                                    <p:cond delay="0"/>
                                  </p:stCondLst>
                                  <p:childTnLst>
                                    <p:animEffect transition="out" filter="fade">
                                      <p:cBhvr>
                                        <p:cTn id="39" dur="1000"/>
                                        <p:tgtEl>
                                          <p:spTgt spid="9"/>
                                        </p:tgtEl>
                                      </p:cBhvr>
                                    </p:animEffect>
                                    <p:anim calcmode="lin" valueType="num">
                                      <p:cBhvr>
                                        <p:cTn id="40" dur="1000"/>
                                        <p:tgtEl>
                                          <p:spTgt spid="9"/>
                                        </p:tgtEl>
                                        <p:attrNameLst>
                                          <p:attrName>ppt_x</p:attrName>
                                        </p:attrNameLst>
                                      </p:cBhvr>
                                      <p:tavLst>
                                        <p:tav tm="0">
                                          <p:val>
                                            <p:strVal val="ppt_x"/>
                                          </p:val>
                                        </p:tav>
                                        <p:tav tm="100000">
                                          <p:val>
                                            <p:strVal val="ppt_x"/>
                                          </p:val>
                                        </p:tav>
                                      </p:tavLst>
                                    </p:anim>
                                    <p:anim calcmode="lin" valueType="num">
                                      <p:cBhvr>
                                        <p:cTn id="41" dur="1000"/>
                                        <p:tgtEl>
                                          <p:spTgt spid="9"/>
                                        </p:tgtEl>
                                        <p:attrNameLst>
                                          <p:attrName>ppt_y</p:attrName>
                                        </p:attrNameLst>
                                      </p:cBhvr>
                                      <p:tavLst>
                                        <p:tav tm="0">
                                          <p:val>
                                            <p:strVal val="ppt_y"/>
                                          </p:val>
                                        </p:tav>
                                        <p:tav tm="100000">
                                          <p:val>
                                            <p:strVal val="ppt_y+.1"/>
                                          </p:val>
                                        </p:tav>
                                      </p:tavLst>
                                    </p:anim>
                                    <p:set>
                                      <p:cBhvr>
                                        <p:cTn id="42" dur="1" fill="hold">
                                          <p:stCondLst>
                                            <p:cond delay="999"/>
                                          </p:stCondLst>
                                        </p:cTn>
                                        <p:tgtEl>
                                          <p:spTgt spid="9"/>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fade">
                                      <p:cBhvr>
                                        <p:cTn id="47" dur="1000"/>
                                        <p:tgtEl>
                                          <p:spTgt spid="5"/>
                                        </p:tgtEl>
                                      </p:cBhvr>
                                    </p:animEffect>
                                    <p:anim calcmode="lin" valueType="num">
                                      <p:cBhvr>
                                        <p:cTn id="48" dur="1000" fill="hold"/>
                                        <p:tgtEl>
                                          <p:spTgt spid="5"/>
                                        </p:tgtEl>
                                        <p:attrNameLst>
                                          <p:attrName>ppt_x</p:attrName>
                                        </p:attrNameLst>
                                      </p:cBhvr>
                                      <p:tavLst>
                                        <p:tav tm="0">
                                          <p:val>
                                            <p:strVal val="#ppt_x"/>
                                          </p:val>
                                        </p:tav>
                                        <p:tav tm="100000">
                                          <p:val>
                                            <p:strVal val="#ppt_x"/>
                                          </p:val>
                                        </p:tav>
                                      </p:tavLst>
                                    </p:anim>
                                    <p:anim calcmode="lin" valueType="num">
                                      <p:cBhvr>
                                        <p:cTn id="4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10"/>
                                        </p:tgtEl>
                                        <p:attrNameLst>
                                          <p:attrName>style.visibility</p:attrName>
                                        </p:attrNameLst>
                                      </p:cBhvr>
                                      <p:to>
                                        <p:strVal val="visible"/>
                                      </p:to>
                                    </p:set>
                                    <p:animEffect transition="in" filter="fade">
                                      <p:cBhvr>
                                        <p:cTn id="54" dur="1000"/>
                                        <p:tgtEl>
                                          <p:spTgt spid="10"/>
                                        </p:tgtEl>
                                      </p:cBhvr>
                                    </p:animEffect>
                                    <p:anim calcmode="lin" valueType="num">
                                      <p:cBhvr>
                                        <p:cTn id="55" dur="1000" fill="hold"/>
                                        <p:tgtEl>
                                          <p:spTgt spid="10"/>
                                        </p:tgtEl>
                                        <p:attrNameLst>
                                          <p:attrName>ppt_x</p:attrName>
                                        </p:attrNameLst>
                                      </p:cBhvr>
                                      <p:tavLst>
                                        <p:tav tm="0">
                                          <p:val>
                                            <p:strVal val="#ppt_x"/>
                                          </p:val>
                                        </p:tav>
                                        <p:tav tm="100000">
                                          <p:val>
                                            <p:strVal val="#ppt_x"/>
                                          </p:val>
                                        </p:tav>
                                      </p:tavLst>
                                    </p:anim>
                                    <p:anim calcmode="lin" valueType="num">
                                      <p:cBhvr>
                                        <p:cTn id="5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xit" presetSubtype="0" fill="hold" nodeType="clickEffect">
                                  <p:stCondLst>
                                    <p:cond delay="0"/>
                                  </p:stCondLst>
                                  <p:childTnLst>
                                    <p:animEffect transition="out" filter="fade">
                                      <p:cBhvr>
                                        <p:cTn id="60" dur="1000"/>
                                        <p:tgtEl>
                                          <p:spTgt spid="10"/>
                                        </p:tgtEl>
                                      </p:cBhvr>
                                    </p:animEffect>
                                    <p:anim calcmode="lin" valueType="num">
                                      <p:cBhvr>
                                        <p:cTn id="61" dur="1000"/>
                                        <p:tgtEl>
                                          <p:spTgt spid="10"/>
                                        </p:tgtEl>
                                        <p:attrNameLst>
                                          <p:attrName>ppt_x</p:attrName>
                                        </p:attrNameLst>
                                      </p:cBhvr>
                                      <p:tavLst>
                                        <p:tav tm="0">
                                          <p:val>
                                            <p:strVal val="ppt_x"/>
                                          </p:val>
                                        </p:tav>
                                        <p:tav tm="100000">
                                          <p:val>
                                            <p:strVal val="ppt_x"/>
                                          </p:val>
                                        </p:tav>
                                      </p:tavLst>
                                    </p:anim>
                                    <p:anim calcmode="lin" valueType="num">
                                      <p:cBhvr>
                                        <p:cTn id="62" dur="1000"/>
                                        <p:tgtEl>
                                          <p:spTgt spid="10"/>
                                        </p:tgtEl>
                                        <p:attrNameLst>
                                          <p:attrName>ppt_y</p:attrName>
                                        </p:attrNameLst>
                                      </p:cBhvr>
                                      <p:tavLst>
                                        <p:tav tm="0">
                                          <p:val>
                                            <p:strVal val="ppt_y"/>
                                          </p:val>
                                        </p:tav>
                                        <p:tav tm="100000">
                                          <p:val>
                                            <p:strVal val="ppt_y+.1"/>
                                          </p:val>
                                        </p:tav>
                                      </p:tavLst>
                                    </p:anim>
                                    <p:set>
                                      <p:cBhvr>
                                        <p:cTn id="63" dur="1" fill="hold">
                                          <p:stCondLst>
                                            <p:cond delay="999"/>
                                          </p:stCondLst>
                                        </p:cTn>
                                        <p:tgtEl>
                                          <p:spTgt spid="10"/>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6"/>
                                        </p:tgtEl>
                                        <p:attrNameLst>
                                          <p:attrName>style.visibility</p:attrName>
                                        </p:attrNameLst>
                                      </p:cBhvr>
                                      <p:to>
                                        <p:strVal val="visible"/>
                                      </p:to>
                                    </p:set>
                                    <p:animEffect transition="in" filter="fade">
                                      <p:cBhvr>
                                        <p:cTn id="68" dur="1000"/>
                                        <p:tgtEl>
                                          <p:spTgt spid="6"/>
                                        </p:tgtEl>
                                      </p:cBhvr>
                                    </p:animEffect>
                                    <p:anim calcmode="lin" valueType="num">
                                      <p:cBhvr>
                                        <p:cTn id="69" dur="1000" fill="hold"/>
                                        <p:tgtEl>
                                          <p:spTgt spid="6"/>
                                        </p:tgtEl>
                                        <p:attrNameLst>
                                          <p:attrName>ppt_x</p:attrName>
                                        </p:attrNameLst>
                                      </p:cBhvr>
                                      <p:tavLst>
                                        <p:tav tm="0">
                                          <p:val>
                                            <p:strVal val="#ppt_x"/>
                                          </p:val>
                                        </p:tav>
                                        <p:tav tm="100000">
                                          <p:val>
                                            <p:strVal val="#ppt_x"/>
                                          </p:val>
                                        </p:tav>
                                      </p:tavLst>
                                    </p:anim>
                                    <p:anim calcmode="lin" valueType="num">
                                      <p:cBhvr>
                                        <p:cTn id="7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nodeType="clickEffect">
                                  <p:stCondLst>
                                    <p:cond delay="0"/>
                                  </p:stCondLst>
                                  <p:childTnLst>
                                    <p:set>
                                      <p:cBhvr>
                                        <p:cTn id="74" dur="1" fill="hold">
                                          <p:stCondLst>
                                            <p:cond delay="0"/>
                                          </p:stCondLst>
                                        </p:cTn>
                                        <p:tgtEl>
                                          <p:spTgt spid="11"/>
                                        </p:tgtEl>
                                        <p:attrNameLst>
                                          <p:attrName>style.visibility</p:attrName>
                                        </p:attrNameLst>
                                      </p:cBhvr>
                                      <p:to>
                                        <p:strVal val="visible"/>
                                      </p:to>
                                    </p:set>
                                    <p:animEffect transition="in" filter="fade">
                                      <p:cBhvr>
                                        <p:cTn id="75" dur="1000"/>
                                        <p:tgtEl>
                                          <p:spTgt spid="11"/>
                                        </p:tgtEl>
                                      </p:cBhvr>
                                    </p:animEffect>
                                    <p:anim calcmode="lin" valueType="num">
                                      <p:cBhvr>
                                        <p:cTn id="76" dur="1000" fill="hold"/>
                                        <p:tgtEl>
                                          <p:spTgt spid="11"/>
                                        </p:tgtEl>
                                        <p:attrNameLst>
                                          <p:attrName>ppt_x</p:attrName>
                                        </p:attrNameLst>
                                      </p:cBhvr>
                                      <p:tavLst>
                                        <p:tav tm="0">
                                          <p:val>
                                            <p:strVal val="#ppt_x"/>
                                          </p:val>
                                        </p:tav>
                                        <p:tav tm="100000">
                                          <p:val>
                                            <p:strVal val="#ppt_x"/>
                                          </p:val>
                                        </p:tav>
                                      </p:tavLst>
                                    </p:anim>
                                    <p:anim calcmode="lin" valueType="num">
                                      <p:cBhvr>
                                        <p:cTn id="77"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C1FDD-F321-1F2C-B906-45430E657339}"/>
              </a:ext>
            </a:extLst>
          </p:cNvPr>
          <p:cNvSpPr>
            <a:spLocks noGrp="1"/>
          </p:cNvSpPr>
          <p:nvPr>
            <p:ph type="title"/>
          </p:nvPr>
        </p:nvSpPr>
        <p:spPr/>
        <p:txBody>
          <a:bodyPr/>
          <a:lstStyle/>
          <a:p>
            <a:r>
              <a:rPr lang="en-GB" dirty="0"/>
              <a:t>Linear regression</a:t>
            </a:r>
          </a:p>
        </p:txBody>
      </p:sp>
      <p:sp>
        <p:nvSpPr>
          <p:cNvPr id="3" name="Content Placeholder 2">
            <a:extLst>
              <a:ext uri="{FF2B5EF4-FFF2-40B4-BE49-F238E27FC236}">
                <a16:creationId xmlns:a16="http://schemas.microsoft.com/office/drawing/2014/main" id="{0E9CEF32-83F0-9B82-C7F8-E670F98B3ABC}"/>
              </a:ext>
            </a:extLst>
          </p:cNvPr>
          <p:cNvSpPr>
            <a:spLocks noGrp="1"/>
          </p:cNvSpPr>
          <p:nvPr>
            <p:ph idx="1"/>
          </p:nvPr>
        </p:nvSpPr>
        <p:spPr>
          <a:xfrm>
            <a:off x="1141412" y="2249487"/>
            <a:ext cx="9905999" cy="3194384"/>
          </a:xfrm>
        </p:spPr>
        <p:txBody>
          <a:bodyPr/>
          <a:lstStyle/>
          <a:p>
            <a:r>
              <a:rPr lang="en-GB" dirty="0"/>
              <a:t>Linear regression is the simplest form of regression.</a:t>
            </a:r>
          </a:p>
          <a:p>
            <a:r>
              <a:rPr lang="en-GB" dirty="0"/>
              <a:t> It assumes there is a linear relationship between the input and output – meaning the output changes at a constant rate as the input changes.</a:t>
            </a:r>
          </a:p>
          <a:p>
            <a:r>
              <a:rPr lang="en-GB" dirty="0"/>
              <a:t>A line of best fit is drawn through all the data points which is represented by the equation: y = mx + c.</a:t>
            </a:r>
          </a:p>
          <a:p>
            <a:pPr marL="0" indent="0">
              <a:buNone/>
            </a:pPr>
            <a:endParaRPr lang="en-GB" dirty="0"/>
          </a:p>
        </p:txBody>
      </p:sp>
    </p:spTree>
    <p:extLst>
      <p:ext uri="{BB962C8B-B14F-4D97-AF65-F5344CB8AC3E}">
        <p14:creationId xmlns:p14="http://schemas.microsoft.com/office/powerpoint/2010/main" val="872143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D0197-1645-0C4E-2DAF-E474EBBFD0C5}"/>
              </a:ext>
            </a:extLst>
          </p:cNvPr>
          <p:cNvSpPr>
            <a:spLocks noGrp="1"/>
          </p:cNvSpPr>
          <p:nvPr>
            <p:ph type="title"/>
          </p:nvPr>
        </p:nvSpPr>
        <p:spPr/>
        <p:txBody>
          <a:bodyPr/>
          <a:lstStyle/>
          <a:p>
            <a:r>
              <a:rPr lang="en-GB" dirty="0"/>
              <a:t>What do the letters in the equation represent?</a:t>
            </a:r>
          </a:p>
        </p:txBody>
      </p:sp>
      <p:sp>
        <p:nvSpPr>
          <p:cNvPr id="3" name="Content Placeholder 2">
            <a:extLst>
              <a:ext uri="{FF2B5EF4-FFF2-40B4-BE49-F238E27FC236}">
                <a16:creationId xmlns:a16="http://schemas.microsoft.com/office/drawing/2014/main" id="{2A1C331D-74B9-6B63-497D-B8EFE6893F67}"/>
              </a:ext>
            </a:extLst>
          </p:cNvPr>
          <p:cNvSpPr>
            <a:spLocks noGrp="1"/>
          </p:cNvSpPr>
          <p:nvPr>
            <p:ph idx="1"/>
          </p:nvPr>
        </p:nvSpPr>
        <p:spPr>
          <a:xfrm>
            <a:off x="4022927" y="3121357"/>
            <a:ext cx="4142969" cy="1259257"/>
          </a:xfrm>
        </p:spPr>
        <p:txBody>
          <a:bodyPr>
            <a:normAutofit/>
          </a:bodyPr>
          <a:lstStyle/>
          <a:p>
            <a:pPr marL="0" indent="0" algn="ctr">
              <a:buNone/>
            </a:pPr>
            <a:r>
              <a:rPr lang="en-GB" sz="5400" dirty="0"/>
              <a:t>y = mx + c</a:t>
            </a:r>
          </a:p>
        </p:txBody>
      </p:sp>
    </p:spTree>
    <p:extLst>
      <p:ext uri="{BB962C8B-B14F-4D97-AF65-F5344CB8AC3E}">
        <p14:creationId xmlns:p14="http://schemas.microsoft.com/office/powerpoint/2010/main" val="748502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56BA6-232F-DAF3-071B-D0AD56BE2A2D}"/>
              </a:ext>
            </a:extLst>
          </p:cNvPr>
          <p:cNvSpPr>
            <a:spLocks noGrp="1"/>
          </p:cNvSpPr>
          <p:nvPr>
            <p:ph type="title"/>
          </p:nvPr>
        </p:nvSpPr>
        <p:spPr>
          <a:xfrm>
            <a:off x="1141414" y="405867"/>
            <a:ext cx="9905998" cy="1478570"/>
          </a:xfrm>
        </p:spPr>
        <p:txBody>
          <a:bodyPr/>
          <a:lstStyle/>
          <a:p>
            <a:r>
              <a:rPr lang="en-GB" dirty="0"/>
              <a:t>Example uses of linear regression</a:t>
            </a:r>
          </a:p>
        </p:txBody>
      </p:sp>
      <p:sp>
        <p:nvSpPr>
          <p:cNvPr id="3" name="Content Placeholder 2">
            <a:extLst>
              <a:ext uri="{FF2B5EF4-FFF2-40B4-BE49-F238E27FC236}">
                <a16:creationId xmlns:a16="http://schemas.microsoft.com/office/drawing/2014/main" id="{42F3F390-792A-907A-66D9-B0E04F102F3F}"/>
              </a:ext>
            </a:extLst>
          </p:cNvPr>
          <p:cNvSpPr>
            <a:spLocks noGrp="1"/>
          </p:cNvSpPr>
          <p:nvPr>
            <p:ph idx="1"/>
          </p:nvPr>
        </p:nvSpPr>
        <p:spPr>
          <a:xfrm>
            <a:off x="1141413" y="1658143"/>
            <a:ext cx="9756959" cy="3315421"/>
          </a:xfrm>
        </p:spPr>
        <p:txBody>
          <a:bodyPr>
            <a:normAutofit lnSpcReduction="10000"/>
          </a:bodyPr>
          <a:lstStyle/>
          <a:p>
            <a:r>
              <a:rPr lang="en-GB" dirty="0"/>
              <a:t>Advertising – Companies can analyse whether advertising expenses have any correlation to sales.</a:t>
            </a:r>
          </a:p>
          <a:p>
            <a:r>
              <a:rPr lang="en-GB" dirty="0"/>
              <a:t>Medical researchers - May use linear regression to understand the effects of medication dosages on humans and how the dosage can be appropriately adjusted.</a:t>
            </a:r>
          </a:p>
          <a:p>
            <a:r>
              <a:rPr lang="en-GB" dirty="0"/>
              <a:t>Sport Data Scientists – Use linear regression to measure the effect of different training regiments on athlete performance.</a:t>
            </a:r>
          </a:p>
          <a:p>
            <a:endParaRPr lang="en-GB" dirty="0"/>
          </a:p>
        </p:txBody>
      </p:sp>
      <p:pic>
        <p:nvPicPr>
          <p:cNvPr id="4" name="Picture 3">
            <a:extLst>
              <a:ext uri="{FF2B5EF4-FFF2-40B4-BE49-F238E27FC236}">
                <a16:creationId xmlns:a16="http://schemas.microsoft.com/office/drawing/2014/main" id="{1F9F182D-073B-2467-7470-9AA66540C2FB}"/>
              </a:ext>
            </a:extLst>
          </p:cNvPr>
          <p:cNvPicPr>
            <a:picLocks noChangeAspect="1"/>
          </p:cNvPicPr>
          <p:nvPr/>
        </p:nvPicPr>
        <p:blipFill>
          <a:blip r:embed="rId2"/>
          <a:stretch>
            <a:fillRect/>
          </a:stretch>
        </p:blipFill>
        <p:spPr>
          <a:xfrm>
            <a:off x="1534260" y="4829186"/>
            <a:ext cx="2797109" cy="1865650"/>
          </a:xfrm>
          <a:prstGeom prst="rect">
            <a:avLst/>
          </a:prstGeom>
        </p:spPr>
      </p:pic>
      <p:pic>
        <p:nvPicPr>
          <p:cNvPr id="5" name="Picture 4">
            <a:extLst>
              <a:ext uri="{FF2B5EF4-FFF2-40B4-BE49-F238E27FC236}">
                <a16:creationId xmlns:a16="http://schemas.microsoft.com/office/drawing/2014/main" id="{4B8DF160-C319-2EF6-5C90-6FF35B506D3E}"/>
              </a:ext>
            </a:extLst>
          </p:cNvPr>
          <p:cNvPicPr>
            <a:picLocks noChangeAspect="1"/>
          </p:cNvPicPr>
          <p:nvPr/>
        </p:nvPicPr>
        <p:blipFill>
          <a:blip r:embed="rId3"/>
          <a:stretch>
            <a:fillRect/>
          </a:stretch>
        </p:blipFill>
        <p:spPr>
          <a:xfrm>
            <a:off x="4900680" y="4840112"/>
            <a:ext cx="2797110" cy="1854724"/>
          </a:xfrm>
          <a:prstGeom prst="rect">
            <a:avLst/>
          </a:prstGeom>
        </p:spPr>
      </p:pic>
      <p:pic>
        <p:nvPicPr>
          <p:cNvPr id="6" name="Picture 5">
            <a:extLst>
              <a:ext uri="{FF2B5EF4-FFF2-40B4-BE49-F238E27FC236}">
                <a16:creationId xmlns:a16="http://schemas.microsoft.com/office/drawing/2014/main" id="{81D257A5-0446-2975-99E7-D6AD1942CE10}"/>
              </a:ext>
            </a:extLst>
          </p:cNvPr>
          <p:cNvPicPr>
            <a:picLocks noChangeAspect="1"/>
          </p:cNvPicPr>
          <p:nvPr/>
        </p:nvPicPr>
        <p:blipFill>
          <a:blip r:embed="rId4"/>
          <a:stretch>
            <a:fillRect/>
          </a:stretch>
        </p:blipFill>
        <p:spPr>
          <a:xfrm>
            <a:off x="8267101" y="4894509"/>
            <a:ext cx="3200582" cy="1800327"/>
          </a:xfrm>
          <a:prstGeom prst="rect">
            <a:avLst/>
          </a:prstGeom>
        </p:spPr>
      </p:pic>
    </p:spTree>
    <p:extLst>
      <p:ext uri="{BB962C8B-B14F-4D97-AF65-F5344CB8AC3E}">
        <p14:creationId xmlns:p14="http://schemas.microsoft.com/office/powerpoint/2010/main" val="589003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 calcmode="lin" valueType="num">
                                      <p:cBhvr additive="base">
                                        <p:cTn id="2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C1C1E-0EA6-8CCC-5107-2B75128CC2D3}"/>
              </a:ext>
            </a:extLst>
          </p:cNvPr>
          <p:cNvSpPr>
            <a:spLocks noGrp="1"/>
          </p:cNvSpPr>
          <p:nvPr>
            <p:ph type="title"/>
          </p:nvPr>
        </p:nvSpPr>
        <p:spPr/>
        <p:txBody>
          <a:bodyPr/>
          <a:lstStyle/>
          <a:p>
            <a:r>
              <a:rPr lang="en-GB" dirty="0"/>
              <a:t>Bayesian regression</a:t>
            </a:r>
          </a:p>
        </p:txBody>
      </p:sp>
      <p:sp>
        <p:nvSpPr>
          <p:cNvPr id="3" name="Content Placeholder 2">
            <a:extLst>
              <a:ext uri="{FF2B5EF4-FFF2-40B4-BE49-F238E27FC236}">
                <a16:creationId xmlns:a16="http://schemas.microsoft.com/office/drawing/2014/main" id="{3BEB5ED0-5978-E71D-43EE-8E1DEF81261A}"/>
              </a:ext>
            </a:extLst>
          </p:cNvPr>
          <p:cNvSpPr>
            <a:spLocks noGrp="1"/>
          </p:cNvSpPr>
          <p:nvPr>
            <p:ph idx="1"/>
          </p:nvPr>
        </p:nvSpPr>
        <p:spPr/>
        <p:txBody>
          <a:bodyPr/>
          <a:lstStyle/>
          <a:p>
            <a:r>
              <a:rPr lang="en-GB" dirty="0"/>
              <a:t>Functions similarly to Linear Regression where instead of just using observed data, Bayesian regression combines the data with prior knowledge to estimate the parameters of the model.</a:t>
            </a:r>
          </a:p>
          <a:p>
            <a:r>
              <a:rPr lang="en-GB" dirty="0"/>
              <a:t>An ideal choice when the data is complex or ambiguous.</a:t>
            </a:r>
          </a:p>
          <a:p>
            <a:r>
              <a:rPr lang="en-GB" dirty="0"/>
              <a:t>Is able to handle extreme outliers, making it more stable.</a:t>
            </a:r>
          </a:p>
          <a:p>
            <a:endParaRPr lang="en-GB" dirty="0"/>
          </a:p>
        </p:txBody>
      </p:sp>
    </p:spTree>
    <p:extLst>
      <p:ext uri="{BB962C8B-B14F-4D97-AF65-F5344CB8AC3E}">
        <p14:creationId xmlns:p14="http://schemas.microsoft.com/office/powerpoint/2010/main" val="746146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D8A2F-9C01-2211-95A2-E4D93CC863E1}"/>
              </a:ext>
            </a:extLst>
          </p:cNvPr>
          <p:cNvSpPr>
            <a:spLocks noGrp="1"/>
          </p:cNvSpPr>
          <p:nvPr>
            <p:ph type="title"/>
          </p:nvPr>
        </p:nvSpPr>
        <p:spPr/>
        <p:txBody>
          <a:bodyPr/>
          <a:lstStyle/>
          <a:p>
            <a:r>
              <a:rPr lang="en-GB" dirty="0"/>
              <a:t>Example uses of Bayesian regression</a:t>
            </a:r>
          </a:p>
        </p:txBody>
      </p:sp>
      <p:sp>
        <p:nvSpPr>
          <p:cNvPr id="3" name="Content Placeholder 2">
            <a:extLst>
              <a:ext uri="{FF2B5EF4-FFF2-40B4-BE49-F238E27FC236}">
                <a16:creationId xmlns:a16="http://schemas.microsoft.com/office/drawing/2014/main" id="{826EF99A-D7A8-65FA-B3DF-3C6603D1B4E4}"/>
              </a:ext>
            </a:extLst>
          </p:cNvPr>
          <p:cNvSpPr>
            <a:spLocks noGrp="1"/>
          </p:cNvSpPr>
          <p:nvPr>
            <p:ph idx="1"/>
          </p:nvPr>
        </p:nvSpPr>
        <p:spPr>
          <a:xfrm>
            <a:off x="1141412" y="1909245"/>
            <a:ext cx="9905999" cy="3541714"/>
          </a:xfrm>
        </p:spPr>
        <p:txBody>
          <a:bodyPr/>
          <a:lstStyle/>
          <a:p>
            <a:r>
              <a:rPr lang="en-GB" dirty="0"/>
              <a:t>Stock Market Analysis – Traders will often use Bayesian algorithms to predict future stock prices based on current and past data. (SMART GAMBLING)</a:t>
            </a:r>
          </a:p>
          <a:p>
            <a:pPr marL="0" indent="0">
              <a:buNone/>
            </a:pPr>
            <a:endParaRPr lang="en-GB" dirty="0"/>
          </a:p>
          <a:p>
            <a:r>
              <a:rPr lang="en-GB" dirty="0"/>
              <a:t>Spam Detection – Email providers heavily rely on Bayesian filters to calculate the probability of certain keywords and sender addresses being spam.</a:t>
            </a:r>
          </a:p>
        </p:txBody>
      </p:sp>
      <p:pic>
        <p:nvPicPr>
          <p:cNvPr id="4" name="Picture 3">
            <a:extLst>
              <a:ext uri="{FF2B5EF4-FFF2-40B4-BE49-F238E27FC236}">
                <a16:creationId xmlns:a16="http://schemas.microsoft.com/office/drawing/2014/main" id="{5DF9244B-305F-A6CF-E5E7-E5BFA7E35A6A}"/>
              </a:ext>
            </a:extLst>
          </p:cNvPr>
          <p:cNvPicPr>
            <a:picLocks noChangeAspect="1"/>
          </p:cNvPicPr>
          <p:nvPr/>
        </p:nvPicPr>
        <p:blipFill>
          <a:blip r:embed="rId2"/>
          <a:stretch>
            <a:fillRect/>
          </a:stretch>
        </p:blipFill>
        <p:spPr>
          <a:xfrm>
            <a:off x="1896324" y="4625364"/>
            <a:ext cx="3047235" cy="2116322"/>
          </a:xfrm>
          <a:prstGeom prst="rect">
            <a:avLst/>
          </a:prstGeom>
        </p:spPr>
      </p:pic>
      <p:pic>
        <p:nvPicPr>
          <p:cNvPr id="5" name="Picture 4">
            <a:extLst>
              <a:ext uri="{FF2B5EF4-FFF2-40B4-BE49-F238E27FC236}">
                <a16:creationId xmlns:a16="http://schemas.microsoft.com/office/drawing/2014/main" id="{3603AF0C-1974-8BAA-965D-2D63A4306693}"/>
              </a:ext>
            </a:extLst>
          </p:cNvPr>
          <p:cNvPicPr>
            <a:picLocks noChangeAspect="1"/>
          </p:cNvPicPr>
          <p:nvPr/>
        </p:nvPicPr>
        <p:blipFill>
          <a:blip r:embed="rId3"/>
          <a:stretch>
            <a:fillRect/>
          </a:stretch>
        </p:blipFill>
        <p:spPr>
          <a:xfrm>
            <a:off x="6751895" y="4615395"/>
            <a:ext cx="2392105" cy="2126291"/>
          </a:xfrm>
          <a:prstGeom prst="rect">
            <a:avLst/>
          </a:prstGeom>
        </p:spPr>
      </p:pic>
    </p:spTree>
    <p:extLst>
      <p:ext uri="{BB962C8B-B14F-4D97-AF65-F5344CB8AC3E}">
        <p14:creationId xmlns:p14="http://schemas.microsoft.com/office/powerpoint/2010/main" val="651674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par>
                                <p:cTn id="21" presetID="2" presetClass="entr" presetSubtype="4" fill="hold" grpId="1"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additive="base">
                                        <p:cTn id="2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134A0-3DC2-01BA-81B0-DD122B4E18C3}"/>
              </a:ext>
            </a:extLst>
          </p:cNvPr>
          <p:cNvSpPr>
            <a:spLocks noGrp="1"/>
          </p:cNvSpPr>
          <p:nvPr>
            <p:ph type="title"/>
          </p:nvPr>
        </p:nvSpPr>
        <p:spPr>
          <a:xfrm>
            <a:off x="1141412" y="604660"/>
            <a:ext cx="9905998" cy="1478570"/>
          </a:xfrm>
        </p:spPr>
        <p:txBody>
          <a:bodyPr/>
          <a:lstStyle/>
          <a:p>
            <a:r>
              <a:rPr lang="en-GB" dirty="0"/>
              <a:t>Decision tree regression</a:t>
            </a:r>
          </a:p>
        </p:txBody>
      </p:sp>
      <p:sp>
        <p:nvSpPr>
          <p:cNvPr id="3" name="Content Placeholder 2">
            <a:extLst>
              <a:ext uri="{FF2B5EF4-FFF2-40B4-BE49-F238E27FC236}">
                <a16:creationId xmlns:a16="http://schemas.microsoft.com/office/drawing/2014/main" id="{1F72EBD9-7393-ECA8-11AE-4EF24ED281D6}"/>
              </a:ext>
            </a:extLst>
          </p:cNvPr>
          <p:cNvSpPr>
            <a:spLocks noGrp="1"/>
          </p:cNvSpPr>
          <p:nvPr>
            <p:ph idx="1"/>
          </p:nvPr>
        </p:nvSpPr>
        <p:spPr>
          <a:xfrm>
            <a:off x="1141412" y="2249487"/>
            <a:ext cx="9905999" cy="2109862"/>
          </a:xfrm>
        </p:spPr>
        <p:txBody>
          <a:bodyPr/>
          <a:lstStyle/>
          <a:p>
            <a:r>
              <a:rPr lang="en-GB" dirty="0"/>
              <a:t>Used to predict continuous values by using a tree-like structure.</a:t>
            </a:r>
          </a:p>
          <a:p>
            <a:r>
              <a:rPr lang="en-GB" dirty="0"/>
              <a:t>It splits the data up into smaller parts based on simple rules.</a:t>
            </a:r>
          </a:p>
          <a:p>
            <a:r>
              <a:rPr lang="en-GB" dirty="0"/>
              <a:t>The end of each branch is called a leaf node which is where the predicted values are given.</a:t>
            </a:r>
          </a:p>
        </p:txBody>
      </p:sp>
      <p:pic>
        <p:nvPicPr>
          <p:cNvPr id="4" name="Picture 3">
            <a:extLst>
              <a:ext uri="{FF2B5EF4-FFF2-40B4-BE49-F238E27FC236}">
                <a16:creationId xmlns:a16="http://schemas.microsoft.com/office/drawing/2014/main" id="{078EC1D5-8602-1BD1-88A7-1B9637FFBB09}"/>
              </a:ext>
            </a:extLst>
          </p:cNvPr>
          <p:cNvPicPr>
            <a:picLocks noChangeAspect="1"/>
          </p:cNvPicPr>
          <p:nvPr/>
        </p:nvPicPr>
        <p:blipFill>
          <a:blip r:embed="rId2"/>
          <a:stretch>
            <a:fillRect/>
          </a:stretch>
        </p:blipFill>
        <p:spPr>
          <a:xfrm>
            <a:off x="2939699" y="2054762"/>
            <a:ext cx="6312601" cy="4182582"/>
          </a:xfrm>
          <a:prstGeom prst="rect">
            <a:avLst/>
          </a:prstGeom>
        </p:spPr>
      </p:pic>
      <p:cxnSp>
        <p:nvCxnSpPr>
          <p:cNvPr id="8" name="Straight Arrow Connector 7">
            <a:extLst>
              <a:ext uri="{FF2B5EF4-FFF2-40B4-BE49-F238E27FC236}">
                <a16:creationId xmlns:a16="http://schemas.microsoft.com/office/drawing/2014/main" id="{D2E4F747-2F5D-F719-D11A-6C1A77B9B322}"/>
              </a:ext>
            </a:extLst>
          </p:cNvPr>
          <p:cNvCxnSpPr/>
          <p:nvPr/>
        </p:nvCxnSpPr>
        <p:spPr>
          <a:xfrm flipV="1">
            <a:off x="7304567" y="2519916"/>
            <a:ext cx="2658140" cy="60605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 name="Straight Arrow Connector 8">
            <a:extLst>
              <a:ext uri="{FF2B5EF4-FFF2-40B4-BE49-F238E27FC236}">
                <a16:creationId xmlns:a16="http://schemas.microsoft.com/office/drawing/2014/main" id="{733E12D5-9F5C-8592-3CC4-14772BE0E95B}"/>
              </a:ext>
            </a:extLst>
          </p:cNvPr>
          <p:cNvCxnSpPr/>
          <p:nvPr/>
        </p:nvCxnSpPr>
        <p:spPr>
          <a:xfrm flipV="1">
            <a:off x="7923230" y="5358809"/>
            <a:ext cx="2658140" cy="60605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 name="Straight Arrow Connector 11">
            <a:extLst>
              <a:ext uri="{FF2B5EF4-FFF2-40B4-BE49-F238E27FC236}">
                <a16:creationId xmlns:a16="http://schemas.microsoft.com/office/drawing/2014/main" id="{82802D13-283E-88D7-79EC-69246D0E8ED4}"/>
              </a:ext>
            </a:extLst>
          </p:cNvPr>
          <p:cNvCxnSpPr>
            <a:cxnSpLocks/>
          </p:cNvCxnSpPr>
          <p:nvPr/>
        </p:nvCxnSpPr>
        <p:spPr>
          <a:xfrm flipV="1">
            <a:off x="6453962" y="1616424"/>
            <a:ext cx="1469268" cy="48839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 name="Title 1">
            <a:extLst>
              <a:ext uri="{FF2B5EF4-FFF2-40B4-BE49-F238E27FC236}">
                <a16:creationId xmlns:a16="http://schemas.microsoft.com/office/drawing/2014/main" id="{A2FC97AC-2233-BC2C-17C2-5F5AE4E9517D}"/>
              </a:ext>
            </a:extLst>
          </p:cNvPr>
          <p:cNvSpPr txBox="1">
            <a:spLocks/>
          </p:cNvSpPr>
          <p:nvPr/>
        </p:nvSpPr>
        <p:spPr>
          <a:xfrm>
            <a:off x="1141412" y="217477"/>
            <a:ext cx="5833546" cy="7461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GB" dirty="0"/>
              <a:t>Label these features</a:t>
            </a:r>
          </a:p>
        </p:txBody>
      </p:sp>
    </p:spTree>
    <p:extLst>
      <p:ext uri="{BB962C8B-B14F-4D97-AF65-F5344CB8AC3E}">
        <p14:creationId xmlns:p14="http://schemas.microsoft.com/office/powerpoint/2010/main" val="1598631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xit" presetSubtype="4" fill="hold" nodeType="clickEffect">
                                  <p:stCondLst>
                                    <p:cond delay="0"/>
                                  </p:stCondLst>
                                  <p:childTnLst>
                                    <p:anim calcmode="lin" valueType="num">
                                      <p:cBhvr additive="base">
                                        <p:cTn id="27" dur="500"/>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8" dur="500"/>
                                        <p:tgtEl>
                                          <p:spTgt spid="3">
                                            <p:txEl>
                                              <p:pRg st="0" end="0"/>
                                            </p:txEl>
                                          </p:spTgt>
                                        </p:tgtEl>
                                        <p:attrNameLst>
                                          <p:attrName>ppt_y</p:attrName>
                                        </p:attrNameLst>
                                      </p:cBhvr>
                                      <p:tavLst>
                                        <p:tav tm="0">
                                          <p:val>
                                            <p:strVal val="ppt_y"/>
                                          </p:val>
                                        </p:tav>
                                        <p:tav tm="100000">
                                          <p:val>
                                            <p:strVal val="1+ppt_h/2"/>
                                          </p:val>
                                        </p:tav>
                                      </p:tavLst>
                                    </p:anim>
                                    <p:set>
                                      <p:cBhvr>
                                        <p:cTn id="29" dur="1" fill="hold">
                                          <p:stCondLst>
                                            <p:cond delay="499"/>
                                          </p:stCondLst>
                                        </p:cTn>
                                        <p:tgtEl>
                                          <p:spTgt spid="3">
                                            <p:txEl>
                                              <p:pRg st="0" end="0"/>
                                            </p:txEl>
                                          </p:spTgt>
                                        </p:tgtEl>
                                        <p:attrNameLst>
                                          <p:attrName>style.visibility</p:attrName>
                                        </p:attrNameLst>
                                      </p:cBhvr>
                                      <p:to>
                                        <p:strVal val="hidden"/>
                                      </p:to>
                                    </p:set>
                                  </p:childTnLst>
                                </p:cTn>
                              </p:par>
                              <p:par>
                                <p:cTn id="30" presetID="2" presetClass="exit" presetSubtype="4" fill="hold" nodeType="withEffect">
                                  <p:stCondLst>
                                    <p:cond delay="0"/>
                                  </p:stCondLst>
                                  <p:childTnLst>
                                    <p:anim calcmode="lin" valueType="num">
                                      <p:cBhvr additive="base">
                                        <p:cTn id="31" dur="500"/>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32" dur="500"/>
                                        <p:tgtEl>
                                          <p:spTgt spid="3">
                                            <p:txEl>
                                              <p:pRg st="1" end="1"/>
                                            </p:txEl>
                                          </p:spTgt>
                                        </p:tgtEl>
                                        <p:attrNameLst>
                                          <p:attrName>ppt_y</p:attrName>
                                        </p:attrNameLst>
                                      </p:cBhvr>
                                      <p:tavLst>
                                        <p:tav tm="0">
                                          <p:val>
                                            <p:strVal val="ppt_y"/>
                                          </p:val>
                                        </p:tav>
                                        <p:tav tm="100000">
                                          <p:val>
                                            <p:strVal val="1+ppt_h/2"/>
                                          </p:val>
                                        </p:tav>
                                      </p:tavLst>
                                    </p:anim>
                                    <p:set>
                                      <p:cBhvr>
                                        <p:cTn id="33" dur="1" fill="hold">
                                          <p:stCondLst>
                                            <p:cond delay="499"/>
                                          </p:stCondLst>
                                        </p:cTn>
                                        <p:tgtEl>
                                          <p:spTgt spid="3">
                                            <p:txEl>
                                              <p:pRg st="1" end="1"/>
                                            </p:txEl>
                                          </p:spTgt>
                                        </p:tgtEl>
                                        <p:attrNameLst>
                                          <p:attrName>style.visibility</p:attrName>
                                        </p:attrNameLst>
                                      </p:cBhvr>
                                      <p:to>
                                        <p:strVal val="hidden"/>
                                      </p:to>
                                    </p:set>
                                  </p:childTnLst>
                                </p:cTn>
                              </p:par>
                              <p:par>
                                <p:cTn id="34" presetID="2" presetClass="exit" presetSubtype="4" fill="hold" nodeType="withEffect">
                                  <p:stCondLst>
                                    <p:cond delay="0"/>
                                  </p:stCondLst>
                                  <p:childTnLst>
                                    <p:anim calcmode="lin" valueType="num">
                                      <p:cBhvr additive="base">
                                        <p:cTn id="35" dur="500"/>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6" dur="500"/>
                                        <p:tgtEl>
                                          <p:spTgt spid="3">
                                            <p:txEl>
                                              <p:pRg st="2" end="2"/>
                                            </p:txEl>
                                          </p:spTgt>
                                        </p:tgtEl>
                                        <p:attrNameLst>
                                          <p:attrName>ppt_y</p:attrName>
                                        </p:attrNameLst>
                                      </p:cBhvr>
                                      <p:tavLst>
                                        <p:tav tm="0">
                                          <p:val>
                                            <p:strVal val="ppt_y"/>
                                          </p:val>
                                        </p:tav>
                                        <p:tav tm="100000">
                                          <p:val>
                                            <p:strVal val="1+ppt_h/2"/>
                                          </p:val>
                                        </p:tav>
                                      </p:tavLst>
                                    </p:anim>
                                    <p:set>
                                      <p:cBhvr>
                                        <p:cTn id="37" dur="1" fill="hold">
                                          <p:stCondLst>
                                            <p:cond delay="499"/>
                                          </p:stCondLst>
                                        </p:cTn>
                                        <p:tgtEl>
                                          <p:spTgt spid="3">
                                            <p:txEl>
                                              <p:pRg st="2" end="2"/>
                                            </p:txEl>
                                          </p:spTgt>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 presetClass="exit" presetSubtype="0" fill="hold" grpId="0" nodeType="clickEffect">
                                  <p:stCondLst>
                                    <p:cond delay="0"/>
                                  </p:stCondLst>
                                  <p:childTnLst>
                                    <p:set>
                                      <p:cBhvr>
                                        <p:cTn id="41" dur="1" fill="hold">
                                          <p:stCondLst>
                                            <p:cond delay="0"/>
                                          </p:stCondLst>
                                        </p:cTn>
                                        <p:tgtEl>
                                          <p:spTgt spid="2"/>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17"/>
                                        </p:tgtEl>
                                        <p:attrNameLst>
                                          <p:attrName>style.visibility</p:attrName>
                                        </p:attrNameLst>
                                      </p:cBhvr>
                                      <p:to>
                                        <p:strVal val="visible"/>
                                      </p:to>
                                    </p:set>
                                    <p:anim calcmode="lin" valueType="num">
                                      <p:cBhvr additive="base">
                                        <p:cTn id="46" dur="500" fill="hold"/>
                                        <p:tgtEl>
                                          <p:spTgt spid="17"/>
                                        </p:tgtEl>
                                        <p:attrNameLst>
                                          <p:attrName>ppt_x</p:attrName>
                                        </p:attrNameLst>
                                      </p:cBhvr>
                                      <p:tavLst>
                                        <p:tav tm="0">
                                          <p:val>
                                            <p:strVal val="#ppt_x"/>
                                          </p:val>
                                        </p:tav>
                                        <p:tav tm="100000">
                                          <p:val>
                                            <p:strVal val="#ppt_x"/>
                                          </p:val>
                                        </p:tav>
                                      </p:tavLst>
                                    </p:anim>
                                    <p:anim calcmode="lin" valueType="num">
                                      <p:cBhvr additive="base">
                                        <p:cTn id="47"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nodeType="click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fade">
                                      <p:cBhvr>
                                        <p:cTn id="52" dur="1000"/>
                                        <p:tgtEl>
                                          <p:spTgt spid="4"/>
                                        </p:tgtEl>
                                      </p:cBhvr>
                                    </p:animEffect>
                                    <p:anim calcmode="lin" valueType="num">
                                      <p:cBhvr>
                                        <p:cTn id="53" dur="1000" fill="hold"/>
                                        <p:tgtEl>
                                          <p:spTgt spid="4"/>
                                        </p:tgtEl>
                                        <p:attrNameLst>
                                          <p:attrName>ppt_x</p:attrName>
                                        </p:attrNameLst>
                                      </p:cBhvr>
                                      <p:tavLst>
                                        <p:tav tm="0">
                                          <p:val>
                                            <p:strVal val="#ppt_x"/>
                                          </p:val>
                                        </p:tav>
                                        <p:tav tm="100000">
                                          <p:val>
                                            <p:strVal val="#ppt_x"/>
                                          </p:val>
                                        </p:tav>
                                      </p:tavLst>
                                    </p:anim>
                                    <p:anim calcmode="lin" valueType="num">
                                      <p:cBhvr>
                                        <p:cTn id="5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12"/>
                                        </p:tgtEl>
                                        <p:attrNameLst>
                                          <p:attrName>style.visibility</p:attrName>
                                        </p:attrNameLst>
                                      </p:cBhvr>
                                      <p:to>
                                        <p:strVal val="visible"/>
                                      </p:to>
                                    </p:set>
                                    <p:anim calcmode="lin" valueType="num">
                                      <p:cBhvr additive="base">
                                        <p:cTn id="59" dur="500" fill="hold"/>
                                        <p:tgtEl>
                                          <p:spTgt spid="12"/>
                                        </p:tgtEl>
                                        <p:attrNameLst>
                                          <p:attrName>ppt_x</p:attrName>
                                        </p:attrNameLst>
                                      </p:cBhvr>
                                      <p:tavLst>
                                        <p:tav tm="0">
                                          <p:val>
                                            <p:strVal val="#ppt_x"/>
                                          </p:val>
                                        </p:tav>
                                        <p:tav tm="100000">
                                          <p:val>
                                            <p:strVal val="#ppt_x"/>
                                          </p:val>
                                        </p:tav>
                                      </p:tavLst>
                                    </p:anim>
                                    <p:anim calcmode="lin" valueType="num">
                                      <p:cBhvr additive="base">
                                        <p:cTn id="6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8"/>
                                        </p:tgtEl>
                                        <p:attrNameLst>
                                          <p:attrName>style.visibility</p:attrName>
                                        </p:attrNameLst>
                                      </p:cBhvr>
                                      <p:to>
                                        <p:strVal val="visible"/>
                                      </p:to>
                                    </p:set>
                                    <p:anim calcmode="lin" valueType="num">
                                      <p:cBhvr additive="base">
                                        <p:cTn id="65" dur="500" fill="hold"/>
                                        <p:tgtEl>
                                          <p:spTgt spid="8"/>
                                        </p:tgtEl>
                                        <p:attrNameLst>
                                          <p:attrName>ppt_x</p:attrName>
                                        </p:attrNameLst>
                                      </p:cBhvr>
                                      <p:tavLst>
                                        <p:tav tm="0">
                                          <p:val>
                                            <p:strVal val="#ppt_x"/>
                                          </p:val>
                                        </p:tav>
                                        <p:tav tm="100000">
                                          <p:val>
                                            <p:strVal val="#ppt_x"/>
                                          </p:val>
                                        </p:tav>
                                      </p:tavLst>
                                    </p:anim>
                                    <p:anim calcmode="lin" valueType="num">
                                      <p:cBhvr additive="base">
                                        <p:cTn id="6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9"/>
                                        </p:tgtEl>
                                        <p:attrNameLst>
                                          <p:attrName>style.visibility</p:attrName>
                                        </p:attrNameLst>
                                      </p:cBhvr>
                                      <p:to>
                                        <p:strVal val="visible"/>
                                      </p:to>
                                    </p:set>
                                    <p:anim calcmode="lin" valueType="num">
                                      <p:cBhvr additive="base">
                                        <p:cTn id="71" dur="500" fill="hold"/>
                                        <p:tgtEl>
                                          <p:spTgt spid="9"/>
                                        </p:tgtEl>
                                        <p:attrNameLst>
                                          <p:attrName>ppt_x</p:attrName>
                                        </p:attrNameLst>
                                      </p:cBhvr>
                                      <p:tavLst>
                                        <p:tav tm="0">
                                          <p:val>
                                            <p:strVal val="#ppt_x"/>
                                          </p:val>
                                        </p:tav>
                                        <p:tav tm="100000">
                                          <p:val>
                                            <p:strVal val="#ppt_x"/>
                                          </p:val>
                                        </p:tav>
                                      </p:tavLst>
                                    </p:anim>
                                    <p:anim calcmode="lin" valueType="num">
                                      <p:cBhvr additive="base">
                                        <p:cTn id="7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P spid="1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C0A48-A217-5434-FAB4-5B32E6443E9D}"/>
              </a:ext>
            </a:extLst>
          </p:cNvPr>
          <p:cNvSpPr>
            <a:spLocks noGrp="1"/>
          </p:cNvSpPr>
          <p:nvPr>
            <p:ph type="title"/>
          </p:nvPr>
        </p:nvSpPr>
        <p:spPr/>
        <p:txBody>
          <a:bodyPr/>
          <a:lstStyle/>
          <a:p>
            <a:r>
              <a:rPr lang="en-GB" dirty="0"/>
              <a:t>Random forest regression</a:t>
            </a:r>
          </a:p>
        </p:txBody>
      </p:sp>
      <p:sp>
        <p:nvSpPr>
          <p:cNvPr id="3" name="Content Placeholder 2">
            <a:extLst>
              <a:ext uri="{FF2B5EF4-FFF2-40B4-BE49-F238E27FC236}">
                <a16:creationId xmlns:a16="http://schemas.microsoft.com/office/drawing/2014/main" id="{5DEE27AD-62B8-FF54-49D0-08085E816021}"/>
              </a:ext>
            </a:extLst>
          </p:cNvPr>
          <p:cNvSpPr>
            <a:spLocks noGrp="1"/>
          </p:cNvSpPr>
          <p:nvPr>
            <p:ph idx="1"/>
          </p:nvPr>
        </p:nvSpPr>
        <p:spPr/>
        <p:txBody>
          <a:bodyPr>
            <a:normAutofit fontScale="92500"/>
          </a:bodyPr>
          <a:lstStyle/>
          <a:p>
            <a:r>
              <a:rPr lang="en-GB" dirty="0"/>
              <a:t>Random forest regression combines the predictions from multiple decision trees to produce a more accurate prediction.</a:t>
            </a:r>
          </a:p>
          <a:p>
            <a:r>
              <a:rPr lang="en-GB" dirty="0"/>
              <a:t>The process starts with bootstrap sampling where random rows of data from a dataset are selected to form different training datasets for each tree.</a:t>
            </a:r>
          </a:p>
          <a:p>
            <a:r>
              <a:rPr lang="en-GB" dirty="0"/>
              <a:t>Feature sampling is the next step where a random subset of features are chosen.</a:t>
            </a:r>
          </a:p>
          <a:p>
            <a:r>
              <a:rPr lang="en-GB" dirty="0"/>
              <a:t>Aggregation is the final stage where the average of all the individual tree predictions is found.</a:t>
            </a:r>
          </a:p>
        </p:txBody>
      </p:sp>
      <p:pic>
        <p:nvPicPr>
          <p:cNvPr id="5" name="Picture 4">
            <a:extLst>
              <a:ext uri="{FF2B5EF4-FFF2-40B4-BE49-F238E27FC236}">
                <a16:creationId xmlns:a16="http://schemas.microsoft.com/office/drawing/2014/main" id="{92434DBF-51E2-C098-493F-C2117606979E}"/>
              </a:ext>
            </a:extLst>
          </p:cNvPr>
          <p:cNvPicPr>
            <a:picLocks noChangeAspect="1"/>
          </p:cNvPicPr>
          <p:nvPr/>
        </p:nvPicPr>
        <p:blipFill>
          <a:blip r:embed="rId2"/>
          <a:stretch>
            <a:fillRect/>
          </a:stretch>
        </p:blipFill>
        <p:spPr>
          <a:xfrm>
            <a:off x="2366454" y="1720436"/>
            <a:ext cx="7638784" cy="4999340"/>
          </a:xfrm>
          <a:prstGeom prst="rect">
            <a:avLst/>
          </a:prstGeom>
        </p:spPr>
      </p:pic>
    </p:spTree>
    <p:extLst>
      <p:ext uri="{BB962C8B-B14F-4D97-AF65-F5344CB8AC3E}">
        <p14:creationId xmlns:p14="http://schemas.microsoft.com/office/powerpoint/2010/main" val="718169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nodeType="clickEffect">
                                  <p:stCondLst>
                                    <p:cond delay="0"/>
                                  </p:stCondLst>
                                  <p:childTnLst>
                                    <p:anim calcmode="lin" valueType="num">
                                      <p:cBhvr additive="base">
                                        <p:cTn id="24" dur="500"/>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5" dur="500"/>
                                        <p:tgtEl>
                                          <p:spTgt spid="3">
                                            <p:txEl>
                                              <p:pRg st="0" end="0"/>
                                            </p:txEl>
                                          </p:spTgt>
                                        </p:tgtEl>
                                        <p:attrNameLst>
                                          <p:attrName>ppt_y</p:attrName>
                                        </p:attrNameLst>
                                      </p:cBhvr>
                                      <p:tavLst>
                                        <p:tav tm="0">
                                          <p:val>
                                            <p:strVal val="ppt_y"/>
                                          </p:val>
                                        </p:tav>
                                        <p:tav tm="100000">
                                          <p:val>
                                            <p:strVal val="1+ppt_h/2"/>
                                          </p:val>
                                        </p:tav>
                                      </p:tavLst>
                                    </p:anim>
                                    <p:set>
                                      <p:cBhvr>
                                        <p:cTn id="26" dur="1" fill="hold">
                                          <p:stCondLst>
                                            <p:cond delay="499"/>
                                          </p:stCondLst>
                                        </p:cTn>
                                        <p:tgtEl>
                                          <p:spTgt spid="3">
                                            <p:txEl>
                                              <p:pRg st="0" end="0"/>
                                            </p:txEl>
                                          </p:spTgt>
                                        </p:tgtEl>
                                        <p:attrNameLst>
                                          <p:attrName>style.visibility</p:attrName>
                                        </p:attrNameLst>
                                      </p:cBhvr>
                                      <p:to>
                                        <p:strVal val="hidden"/>
                                      </p:to>
                                    </p:set>
                                  </p:childTnLst>
                                </p:cTn>
                              </p:par>
                              <p:par>
                                <p:cTn id="27" presetID="2" presetClass="exit" presetSubtype="4" fill="hold" nodeType="withEffect">
                                  <p:stCondLst>
                                    <p:cond delay="0"/>
                                  </p:stCondLst>
                                  <p:childTnLst>
                                    <p:anim calcmode="lin" valueType="num">
                                      <p:cBhvr additive="base">
                                        <p:cTn id="28" dur="500"/>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9" dur="500"/>
                                        <p:tgtEl>
                                          <p:spTgt spid="3">
                                            <p:txEl>
                                              <p:pRg st="1" end="1"/>
                                            </p:txEl>
                                          </p:spTgt>
                                        </p:tgtEl>
                                        <p:attrNameLst>
                                          <p:attrName>ppt_y</p:attrName>
                                        </p:attrNameLst>
                                      </p:cBhvr>
                                      <p:tavLst>
                                        <p:tav tm="0">
                                          <p:val>
                                            <p:strVal val="ppt_y"/>
                                          </p:val>
                                        </p:tav>
                                        <p:tav tm="100000">
                                          <p:val>
                                            <p:strVal val="1+ppt_h/2"/>
                                          </p:val>
                                        </p:tav>
                                      </p:tavLst>
                                    </p:anim>
                                    <p:set>
                                      <p:cBhvr>
                                        <p:cTn id="30" dur="1" fill="hold">
                                          <p:stCondLst>
                                            <p:cond delay="499"/>
                                          </p:stCondLst>
                                        </p:cTn>
                                        <p:tgtEl>
                                          <p:spTgt spid="3">
                                            <p:txEl>
                                              <p:pRg st="1" end="1"/>
                                            </p:txEl>
                                          </p:spTgt>
                                        </p:tgtEl>
                                        <p:attrNameLst>
                                          <p:attrName>style.visibility</p:attrName>
                                        </p:attrNameLst>
                                      </p:cBhvr>
                                      <p:to>
                                        <p:strVal val="hidden"/>
                                      </p:to>
                                    </p:set>
                                  </p:childTnLst>
                                </p:cTn>
                              </p:par>
                              <p:par>
                                <p:cTn id="31" presetID="2" presetClass="exit" presetSubtype="4" fill="hold" nodeType="withEffect">
                                  <p:stCondLst>
                                    <p:cond delay="0"/>
                                  </p:stCondLst>
                                  <p:childTnLst>
                                    <p:anim calcmode="lin" valueType="num">
                                      <p:cBhvr additive="base">
                                        <p:cTn id="32" dur="500"/>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3" dur="500"/>
                                        <p:tgtEl>
                                          <p:spTgt spid="3">
                                            <p:txEl>
                                              <p:pRg st="2" end="2"/>
                                            </p:txEl>
                                          </p:spTgt>
                                        </p:tgtEl>
                                        <p:attrNameLst>
                                          <p:attrName>ppt_y</p:attrName>
                                        </p:attrNameLst>
                                      </p:cBhvr>
                                      <p:tavLst>
                                        <p:tav tm="0">
                                          <p:val>
                                            <p:strVal val="ppt_y"/>
                                          </p:val>
                                        </p:tav>
                                        <p:tav tm="100000">
                                          <p:val>
                                            <p:strVal val="1+ppt_h/2"/>
                                          </p:val>
                                        </p:tav>
                                      </p:tavLst>
                                    </p:anim>
                                    <p:set>
                                      <p:cBhvr>
                                        <p:cTn id="34" dur="1" fill="hold">
                                          <p:stCondLst>
                                            <p:cond delay="499"/>
                                          </p:stCondLst>
                                        </p:cTn>
                                        <p:tgtEl>
                                          <p:spTgt spid="3">
                                            <p:txEl>
                                              <p:pRg st="2" end="2"/>
                                            </p:txEl>
                                          </p:spTgt>
                                        </p:tgtEl>
                                        <p:attrNameLst>
                                          <p:attrName>style.visibility</p:attrName>
                                        </p:attrNameLst>
                                      </p:cBhvr>
                                      <p:to>
                                        <p:strVal val="hidden"/>
                                      </p:to>
                                    </p:set>
                                  </p:childTnLst>
                                </p:cTn>
                              </p:par>
                              <p:par>
                                <p:cTn id="35" presetID="2" presetClass="exit" presetSubtype="4" fill="hold" nodeType="withEffect">
                                  <p:stCondLst>
                                    <p:cond delay="0"/>
                                  </p:stCondLst>
                                  <p:childTnLst>
                                    <p:anim calcmode="lin" valueType="num">
                                      <p:cBhvr additive="base">
                                        <p:cTn id="36" dur="500"/>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7" dur="500"/>
                                        <p:tgtEl>
                                          <p:spTgt spid="3">
                                            <p:txEl>
                                              <p:pRg st="3" end="3"/>
                                            </p:txEl>
                                          </p:spTgt>
                                        </p:tgtEl>
                                        <p:attrNameLst>
                                          <p:attrName>ppt_y</p:attrName>
                                        </p:attrNameLst>
                                      </p:cBhvr>
                                      <p:tavLst>
                                        <p:tav tm="0">
                                          <p:val>
                                            <p:strVal val="ppt_y"/>
                                          </p:val>
                                        </p:tav>
                                        <p:tav tm="100000">
                                          <p:val>
                                            <p:strVal val="1+ppt_h/2"/>
                                          </p:val>
                                        </p:tav>
                                      </p:tavLst>
                                    </p:anim>
                                    <p:set>
                                      <p:cBhvr>
                                        <p:cTn id="38" dur="1" fill="hold">
                                          <p:stCondLst>
                                            <p:cond delay="499"/>
                                          </p:stCondLst>
                                        </p:cTn>
                                        <p:tgtEl>
                                          <p:spTgt spid="3">
                                            <p:txEl>
                                              <p:pRg st="3" end="3"/>
                                            </p:txEl>
                                          </p:spTgt>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fade">
                                      <p:cBhvr>
                                        <p:cTn id="4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67CFE-8EC5-BE12-7E0C-30F7B8768236}"/>
              </a:ext>
            </a:extLst>
          </p:cNvPr>
          <p:cNvSpPr>
            <a:spLocks noGrp="1"/>
          </p:cNvSpPr>
          <p:nvPr>
            <p:ph type="title"/>
          </p:nvPr>
        </p:nvSpPr>
        <p:spPr>
          <a:xfrm>
            <a:off x="1141412" y="599727"/>
            <a:ext cx="9905998" cy="1478570"/>
          </a:xfrm>
        </p:spPr>
        <p:txBody>
          <a:bodyPr/>
          <a:lstStyle/>
          <a:p>
            <a:r>
              <a:rPr lang="en-GB" dirty="0"/>
              <a:t>Example uses of random forest  and decision tree regression</a:t>
            </a:r>
          </a:p>
        </p:txBody>
      </p:sp>
      <p:sp>
        <p:nvSpPr>
          <p:cNvPr id="3" name="Content Placeholder 2">
            <a:extLst>
              <a:ext uri="{FF2B5EF4-FFF2-40B4-BE49-F238E27FC236}">
                <a16:creationId xmlns:a16="http://schemas.microsoft.com/office/drawing/2014/main" id="{B2495B3A-BD6B-F5C9-CDEC-14620892D125}"/>
              </a:ext>
            </a:extLst>
          </p:cNvPr>
          <p:cNvSpPr>
            <a:spLocks noGrp="1"/>
          </p:cNvSpPr>
          <p:nvPr>
            <p:ph idx="1"/>
          </p:nvPr>
        </p:nvSpPr>
        <p:spPr>
          <a:xfrm>
            <a:off x="1141412" y="1940644"/>
            <a:ext cx="9905999" cy="2610091"/>
          </a:xfrm>
        </p:spPr>
        <p:txBody>
          <a:bodyPr>
            <a:normAutofit fontScale="92500"/>
          </a:bodyPr>
          <a:lstStyle/>
          <a:p>
            <a:r>
              <a:rPr lang="en-GB" dirty="0"/>
              <a:t>Stock management – In retail, companies will feed data such as: Sales Trends, Seasonal Demand and Supplier lead times into decision trees to generate a prediction of how much each product is needed.</a:t>
            </a:r>
          </a:p>
          <a:p>
            <a:r>
              <a:rPr lang="en-GB" dirty="0"/>
              <a:t>Customer Targeting – Online stores that show you exactly what you want are able to do this through grouping customers based on certain factors and using these to create accurate predictions on what products you want to see.</a:t>
            </a:r>
          </a:p>
        </p:txBody>
      </p:sp>
      <p:pic>
        <p:nvPicPr>
          <p:cNvPr id="4" name="Picture 3">
            <a:extLst>
              <a:ext uri="{FF2B5EF4-FFF2-40B4-BE49-F238E27FC236}">
                <a16:creationId xmlns:a16="http://schemas.microsoft.com/office/drawing/2014/main" id="{BDF3BFB8-C131-612D-D0FA-F8331E9CE7F5}"/>
              </a:ext>
            </a:extLst>
          </p:cNvPr>
          <p:cNvPicPr>
            <a:picLocks noChangeAspect="1"/>
          </p:cNvPicPr>
          <p:nvPr/>
        </p:nvPicPr>
        <p:blipFill>
          <a:blip r:embed="rId2"/>
          <a:stretch>
            <a:fillRect/>
          </a:stretch>
        </p:blipFill>
        <p:spPr>
          <a:xfrm>
            <a:off x="6302506" y="4970590"/>
            <a:ext cx="3351857" cy="1779490"/>
          </a:xfrm>
          <a:prstGeom prst="rect">
            <a:avLst/>
          </a:prstGeom>
        </p:spPr>
      </p:pic>
      <p:pic>
        <p:nvPicPr>
          <p:cNvPr id="5" name="Picture 4">
            <a:extLst>
              <a:ext uri="{FF2B5EF4-FFF2-40B4-BE49-F238E27FC236}">
                <a16:creationId xmlns:a16="http://schemas.microsoft.com/office/drawing/2014/main" id="{1A8135B8-072A-C652-89F9-C17A525E3963}"/>
              </a:ext>
            </a:extLst>
          </p:cNvPr>
          <p:cNvPicPr>
            <a:picLocks noChangeAspect="1"/>
          </p:cNvPicPr>
          <p:nvPr/>
        </p:nvPicPr>
        <p:blipFill>
          <a:blip r:embed="rId3"/>
          <a:stretch>
            <a:fillRect/>
          </a:stretch>
        </p:blipFill>
        <p:spPr>
          <a:xfrm>
            <a:off x="1811966" y="4726288"/>
            <a:ext cx="3351857" cy="2053700"/>
          </a:xfrm>
          <a:prstGeom prst="rect">
            <a:avLst/>
          </a:prstGeom>
        </p:spPr>
      </p:pic>
    </p:spTree>
    <p:extLst>
      <p:ext uri="{BB962C8B-B14F-4D97-AF65-F5344CB8AC3E}">
        <p14:creationId xmlns:p14="http://schemas.microsoft.com/office/powerpoint/2010/main" val="2543693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ppt_x"/>
                                          </p:val>
                                        </p:tav>
                                        <p:tav tm="100000">
                                          <p:val>
                                            <p:strVal val="#ppt_x"/>
                                          </p:val>
                                        </p:tav>
                                      </p:tavLst>
                                    </p:anim>
                                    <p:anim calcmode="lin" valueType="num">
                                      <p:cBhvr additive="base">
                                        <p:cTn id="2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EC659-FCBD-FB9A-6313-BF3F3FF2E339}"/>
              </a:ext>
            </a:extLst>
          </p:cNvPr>
          <p:cNvSpPr>
            <a:spLocks noGrp="1"/>
          </p:cNvSpPr>
          <p:nvPr>
            <p:ph type="title"/>
          </p:nvPr>
        </p:nvSpPr>
        <p:spPr/>
        <p:txBody>
          <a:bodyPr/>
          <a:lstStyle/>
          <a:p>
            <a:endParaRPr lang="en-GB"/>
          </a:p>
        </p:txBody>
      </p:sp>
      <p:pic>
        <p:nvPicPr>
          <p:cNvPr id="1026" name="Picture 2" descr="This Is When The Fun Begins GIFs - Find &amp; Share on GIPHY">
            <a:extLst>
              <a:ext uri="{FF2B5EF4-FFF2-40B4-BE49-F238E27FC236}">
                <a16:creationId xmlns:a16="http://schemas.microsoft.com/office/drawing/2014/main" id="{77F9DF8B-64E5-ECCB-37C3-53A46B3816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5475" y="2333625"/>
            <a:ext cx="8151354" cy="39058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07971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a:extLst>
              <a:ext uri="{FF2B5EF4-FFF2-40B4-BE49-F238E27FC236}">
                <a16:creationId xmlns:a16="http://schemas.microsoft.com/office/drawing/2014/main" id="{8DADE8A2-8457-E533-FCE3-0E4E54451EC7}"/>
              </a:ext>
            </a:extLst>
          </p:cNvPr>
          <p:cNvPicPr>
            <a:picLocks noChangeAspect="1"/>
          </p:cNvPicPr>
          <p:nvPr/>
        </p:nvPicPr>
        <p:blipFill>
          <a:blip r:embed="rId2"/>
          <a:srcRect/>
          <a:stretch>
            <a:fillRect/>
          </a:stretch>
        </p:blipFill>
        <p:spPr>
          <a:xfrm>
            <a:off x="1961446" y="1655608"/>
            <a:ext cx="8924125" cy="3773632"/>
          </a:xfrm>
          <a:prstGeom prst="rect">
            <a:avLst/>
          </a:prstGeom>
          <a:noFill/>
          <a:ln cap="flat">
            <a:noFill/>
          </a:ln>
        </p:spPr>
      </p:pic>
      <p:pic>
        <p:nvPicPr>
          <p:cNvPr id="1026" name="Picture 2" descr="Ainsley Harriott GIF - Ainsley Harriott Yeah - Discover ...">
            <a:extLst>
              <a:ext uri="{FF2B5EF4-FFF2-40B4-BE49-F238E27FC236}">
                <a16:creationId xmlns:a16="http://schemas.microsoft.com/office/drawing/2014/main" id="{4874878E-BD7D-97DC-46F5-F89ADE5FF8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7083" y="633495"/>
            <a:ext cx="5616541" cy="55910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2187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Effect transition="in" filter="wipe(down)">
                                      <p:cBhvr>
                                        <p:cTn id="12"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394071-272C-6B40-A99C-F224155F8FBF}"/>
              </a:ext>
            </a:extLst>
          </p:cNvPr>
          <p:cNvSpPr>
            <a:spLocks noGrp="1"/>
          </p:cNvSpPr>
          <p:nvPr>
            <p:ph idx="1"/>
          </p:nvPr>
        </p:nvSpPr>
        <p:spPr>
          <a:xfrm>
            <a:off x="108140" y="475551"/>
            <a:ext cx="12083860" cy="3118041"/>
          </a:xfrm>
        </p:spPr>
        <p:txBody>
          <a:bodyPr>
            <a:normAutofit/>
          </a:bodyPr>
          <a:lstStyle/>
          <a:p>
            <a:r>
              <a:rPr lang="en-GB" sz="4000" dirty="0"/>
              <a:t>https://github.com/rhyanb01/BOTSQUAD/tree/week-3</a:t>
            </a:r>
          </a:p>
        </p:txBody>
      </p:sp>
      <p:pic>
        <p:nvPicPr>
          <p:cNvPr id="2050" name="Picture 2" descr="Steam Workshop::Ah shit here we go again (Change Background)">
            <a:extLst>
              <a:ext uri="{FF2B5EF4-FFF2-40B4-BE49-F238E27FC236}">
                <a16:creationId xmlns:a16="http://schemas.microsoft.com/office/drawing/2014/main" id="{45BAAA33-704D-1E8F-A243-B33B15CF3F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7383" y="2047614"/>
            <a:ext cx="3939299" cy="3939299"/>
          </a:xfrm>
          <a:prstGeom prst="rect">
            <a:avLst/>
          </a:prstGeom>
          <a:noFill/>
          <a:extLst>
            <a:ext uri="{909E8E84-426E-40DD-AFC4-6F175D3DCCD1}">
              <a14:hiddenFill xmlns:a14="http://schemas.microsoft.com/office/drawing/2010/main">
                <a:solidFill>
                  <a:srgbClr val="FFFFFF"/>
                </a:solidFill>
              </a14:hiddenFill>
            </a:ext>
          </a:extLst>
        </p:spPr>
      </p:pic>
      <p:pic>
        <p:nvPicPr>
          <p:cNvPr id="5" name="Graphic 4">
            <a:extLst>
              <a:ext uri="{FF2B5EF4-FFF2-40B4-BE49-F238E27FC236}">
                <a16:creationId xmlns:a16="http://schemas.microsoft.com/office/drawing/2014/main" id="{ACD1F01D-A25E-C70F-3760-7C6E4EFB17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42461" y="1925053"/>
            <a:ext cx="4162926" cy="4162926"/>
          </a:xfrm>
          <a:prstGeom prst="rect">
            <a:avLst/>
          </a:prstGeom>
        </p:spPr>
      </p:pic>
    </p:spTree>
    <p:extLst>
      <p:ext uri="{BB962C8B-B14F-4D97-AF65-F5344CB8AC3E}">
        <p14:creationId xmlns:p14="http://schemas.microsoft.com/office/powerpoint/2010/main" val="235216287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Circuit</Template>
  <TotalTime>0</TotalTime>
  <Words>539</Words>
  <Application>Microsoft Office PowerPoint</Application>
  <PresentationFormat>Widescreen</PresentationFormat>
  <Paragraphs>42</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Tw Cen MT</vt:lpstr>
      <vt:lpstr>Circuit</vt:lpstr>
      <vt:lpstr>Bot squad week 3 </vt:lpstr>
      <vt:lpstr>What is regression?</vt:lpstr>
      <vt:lpstr>What are the main types of regression?</vt:lpstr>
      <vt:lpstr>Linear regression</vt:lpstr>
      <vt:lpstr>What do the letters in the equation represent?</vt:lpstr>
      <vt:lpstr>Example uses of linear regression</vt:lpstr>
      <vt:lpstr>Bayesian regression</vt:lpstr>
      <vt:lpstr>Example uses of Bayesian regression</vt:lpstr>
      <vt:lpstr>Decision tree regression</vt:lpstr>
      <vt:lpstr>Random forest regression</vt:lpstr>
      <vt:lpstr>Example uses of random forest  and decision tree regression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Kayden Cole</dc:creator>
  <cp:lastModifiedBy>rhyan.bushi</cp:lastModifiedBy>
  <cp:revision>2</cp:revision>
  <dcterms:created xsi:type="dcterms:W3CDTF">2025-10-18T14:37:09Z</dcterms:created>
  <dcterms:modified xsi:type="dcterms:W3CDTF">2025-10-20T15:14:20Z</dcterms:modified>
</cp:coreProperties>
</file>