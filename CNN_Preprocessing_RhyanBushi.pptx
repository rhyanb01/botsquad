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2"/>
    <p:sldId id="259" r:id="rId3"/>
    <p:sldId id="262" r:id="rId4"/>
    <p:sldId id="264" r:id="rId5"/>
    <p:sldId id="274" r:id="rId6"/>
    <p:sldId id="266" r:id="rId7"/>
    <p:sldId id="275" r:id="rId8"/>
    <p:sldId id="276" r:id="rId9"/>
    <p:sldId id="267" r:id="rId10"/>
    <p:sldId id="268" r:id="rId11"/>
    <p:sldId id="277" r:id="rId12"/>
    <p:sldId id="270" r:id="rId13"/>
    <p:sldId id="278" r:id="rId14"/>
    <p:sldId id="279" r:id="rId15"/>
    <p:sldId id="280" r:id="rId16"/>
    <p:sldId id="281" r:id="rId17"/>
    <p:sldId id="282" r:id="rId18"/>
    <p:sldId id="283" r:id="rId19"/>
    <p:sldId id="284" r:id="rId20"/>
    <p:sldId id="285" r:id="rId21"/>
    <p:sldId id="272" r:id="rId22"/>
    <p:sldId id="273"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B03131-A6D8-447D-B363-8BDC572838B4}" v="9" dt="2025-10-10T13:01:28.362"/>
    <p1510:client id="{C8741E3E-D0BB-4D0B-BA27-52BDB29807FB}" v="23" dt="2025-10-10T13:48:08.5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8" d="100"/>
          <a:sy n="68" d="100"/>
        </p:scale>
        <p:origin x="159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66" name="Group 65"/>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900238" y="1122363"/>
            <a:ext cx="6593681" cy="2387600"/>
          </a:xfrm>
        </p:spPr>
        <p:txBody>
          <a:bodyPr anchor="b">
            <a:normAutofit/>
          </a:bodyPr>
          <a:lstStyle>
            <a:lvl1pPr algn="l">
              <a:defRPr sz="4800"/>
            </a:lvl1pPr>
          </a:lstStyle>
          <a:p>
            <a:r>
              <a:rPr lang="en-GB"/>
              <a:t>Click to edit Master title style</a:t>
            </a:r>
            <a:endParaRPr lang="en-US" dirty="0"/>
          </a:p>
        </p:txBody>
      </p:sp>
      <p:sp>
        <p:nvSpPr>
          <p:cNvPr id="3" name="Subtitle 2"/>
          <p:cNvSpPr>
            <a:spLocks noGrp="1"/>
          </p:cNvSpPr>
          <p:nvPr>
            <p:ph type="subTitle" idx="1"/>
          </p:nvPr>
        </p:nvSpPr>
        <p:spPr>
          <a:xfrm>
            <a:off x="1900238" y="3602038"/>
            <a:ext cx="6593681"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5801052" y="5410202"/>
            <a:ext cx="2057400" cy="365125"/>
          </a:xfrm>
        </p:spPr>
        <p:txBody>
          <a:bodyPr/>
          <a:lstStyle/>
          <a:p>
            <a:fld id="{5BCAD085-E8A6-8845-BD4E-CB4CCA059FC4}" type="datetimeFigureOut">
              <a:rPr lang="en-US" smtClean="0"/>
              <a:t>10/11/2025</a:t>
            </a:fld>
            <a:endParaRPr lang="en-US"/>
          </a:p>
        </p:txBody>
      </p:sp>
      <p:sp>
        <p:nvSpPr>
          <p:cNvPr id="5" name="Footer Placeholder 4"/>
          <p:cNvSpPr>
            <a:spLocks noGrp="1"/>
          </p:cNvSpPr>
          <p:nvPr>
            <p:ph type="ftr" sz="quarter" idx="11"/>
          </p:nvPr>
        </p:nvSpPr>
        <p:spPr>
          <a:xfrm>
            <a:off x="1900237" y="5410202"/>
            <a:ext cx="3843665" cy="365125"/>
          </a:xfrm>
        </p:spPr>
        <p:txBody>
          <a:bodyPr/>
          <a:lstStyle/>
          <a:p>
            <a:endParaRPr lang="en-US"/>
          </a:p>
        </p:txBody>
      </p:sp>
      <p:sp>
        <p:nvSpPr>
          <p:cNvPr id="6" name="Slide Number Placeholder 5"/>
          <p:cNvSpPr>
            <a:spLocks noGrp="1"/>
          </p:cNvSpPr>
          <p:nvPr>
            <p:ph type="sldNum" sz="quarter" idx="12"/>
          </p:nvPr>
        </p:nvSpPr>
        <p:spPr>
          <a:xfrm>
            <a:off x="7915603" y="5410200"/>
            <a:ext cx="57831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3008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7" name="Title 1"/>
          <p:cNvSpPr>
            <a:spLocks noGrp="1"/>
          </p:cNvSpPr>
          <p:nvPr>
            <p:ph type="title"/>
          </p:nvPr>
        </p:nvSpPr>
        <p:spPr>
          <a:xfrm>
            <a:off x="856060" y="618518"/>
            <a:ext cx="7429499" cy="1478570"/>
          </a:xfrm>
        </p:spPr>
        <p:txBody>
          <a:bodyPr/>
          <a:lstStyle/>
          <a:p>
            <a:r>
              <a:rPr lang="en-GB"/>
              <a:t>Click to edit Master title style</a:t>
            </a:r>
            <a:endParaRPr lang="en-US" dirty="0"/>
          </a:p>
        </p:txBody>
      </p:sp>
      <p:sp>
        <p:nvSpPr>
          <p:cNvPr id="48" name="Content Placeholder 2"/>
          <p:cNvSpPr>
            <a:spLocks noGrp="1"/>
          </p:cNvSpPr>
          <p:nvPr>
            <p:ph idx="1"/>
          </p:nvPr>
        </p:nvSpPr>
        <p:spPr>
          <a:xfrm>
            <a:off x="856060" y="2249487"/>
            <a:ext cx="7429499"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9" name="Date Placeholder 3"/>
          <p:cNvSpPr>
            <a:spLocks noGrp="1"/>
          </p:cNvSpPr>
          <p:nvPr>
            <p:ph type="dt" sz="half" idx="10"/>
          </p:nvPr>
        </p:nvSpPr>
        <p:spPr>
          <a:xfrm>
            <a:off x="5592691" y="5883277"/>
            <a:ext cx="2057400" cy="365125"/>
          </a:xfrm>
        </p:spPr>
        <p:txBody>
          <a:bodyPr/>
          <a:lstStyle/>
          <a:p>
            <a:fld id="{5BCAD085-E8A6-8845-BD4E-CB4CCA059FC4}" type="datetimeFigureOut">
              <a:rPr lang="en-US" smtClean="0"/>
              <a:t>10/11/2025</a:t>
            </a:fld>
            <a:endParaRPr lang="en-US"/>
          </a:p>
        </p:txBody>
      </p:sp>
      <p:sp>
        <p:nvSpPr>
          <p:cNvPr id="50" name="Footer Placeholder 4"/>
          <p:cNvSpPr>
            <a:spLocks noGrp="1"/>
          </p:cNvSpPr>
          <p:nvPr>
            <p:ph type="ftr" sz="quarter" idx="11"/>
          </p:nvPr>
        </p:nvSpPr>
        <p:spPr>
          <a:xfrm>
            <a:off x="856059" y="5883276"/>
            <a:ext cx="4679482" cy="365125"/>
          </a:xfrm>
        </p:spPr>
        <p:txBody>
          <a:bodyPr/>
          <a:lstStyle/>
          <a:p>
            <a:endParaRPr lang="en-US"/>
          </a:p>
        </p:txBody>
      </p:sp>
      <p:sp>
        <p:nvSpPr>
          <p:cNvPr id="51" name="Slide Number Placeholder 5"/>
          <p:cNvSpPr>
            <a:spLocks noGrp="1"/>
          </p:cNvSpPr>
          <p:nvPr>
            <p:ph type="sldNum" sz="quarter" idx="12"/>
          </p:nvPr>
        </p:nvSpPr>
        <p:spPr>
          <a:xfrm>
            <a:off x="7707241" y="5883275"/>
            <a:ext cx="578317"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500569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6058" y="1419227"/>
            <a:ext cx="7429500" cy="2852737"/>
          </a:xfrm>
        </p:spPr>
        <p:txBody>
          <a:bodyPr anchor="b">
            <a:normAutofit/>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856058" y="4424362"/>
            <a:ext cx="74295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21229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56058" y="2249486"/>
            <a:ext cx="3658792"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629151" y="2249486"/>
            <a:ext cx="3656408" cy="35417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759705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6058" y="619127"/>
            <a:ext cx="7429500" cy="1477961"/>
          </a:xfrm>
        </p:spPr>
        <p:txBody>
          <a:bodyPr/>
          <a:lstStyle/>
          <a:p>
            <a:r>
              <a:rPr lang="en-GB"/>
              <a:t>Click to edit Master title style</a:t>
            </a:r>
            <a:endParaRPr lang="en-US" dirty="0"/>
          </a:p>
        </p:txBody>
      </p:sp>
      <p:sp>
        <p:nvSpPr>
          <p:cNvPr id="3" name="Text Placeholder 2"/>
          <p:cNvSpPr>
            <a:spLocks noGrp="1"/>
          </p:cNvSpPr>
          <p:nvPr>
            <p:ph type="body" idx="1"/>
          </p:nvPr>
        </p:nvSpPr>
        <p:spPr>
          <a:xfrm>
            <a:off x="1078902" y="2249486"/>
            <a:ext cx="3435949"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56058" y="3073398"/>
            <a:ext cx="3658793"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851992" y="2249485"/>
            <a:ext cx="3433565"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29150" y="3073398"/>
            <a:ext cx="3656408" cy="271780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10/11/2025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18821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10/11/2025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6863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40195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029" y="609601"/>
            <a:ext cx="2892028" cy="1639884"/>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3867150" y="592666"/>
            <a:ext cx="4418407" cy="5198534"/>
          </a:xfrm>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60029" y="2249486"/>
            <a:ext cx="2892028"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5016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61" y="609600"/>
            <a:ext cx="3753962" cy="1639886"/>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4832866" y="609600"/>
            <a:ext cx="3452693" cy="5181602"/>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3200"/>
            </a:lvl1pPr>
          </a:lstStyle>
          <a:p>
            <a:pPr marL="0" lvl="0" indent="0">
              <a:buNone/>
            </a:pPr>
            <a:r>
              <a:rPr lang="en-GB"/>
              <a:t>Click icon to add picture</a:t>
            </a:r>
            <a:endParaRPr lang="en-US" dirty="0"/>
          </a:p>
        </p:txBody>
      </p:sp>
      <p:sp>
        <p:nvSpPr>
          <p:cNvPr id="4" name="Text Placeholder 3"/>
          <p:cNvSpPr>
            <a:spLocks noGrp="1"/>
          </p:cNvSpPr>
          <p:nvPr>
            <p:ph type="body" sz="half" idx="2"/>
          </p:nvPr>
        </p:nvSpPr>
        <p:spPr>
          <a:xfrm>
            <a:off x="856059" y="2249486"/>
            <a:ext cx="3753964"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02800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8" y="4304665"/>
            <a:ext cx="7434266" cy="819355"/>
          </a:xfrm>
        </p:spPr>
        <p:txBody>
          <a:bodyPr anchor="b">
            <a:normAutofit/>
          </a:bodyPr>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856058" y="606426"/>
            <a:ext cx="7434266" cy="3299778"/>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GB"/>
              <a:t>Click icon to add picture</a:t>
            </a:r>
            <a:endParaRPr lang="en-US" dirty="0"/>
          </a:p>
        </p:txBody>
      </p:sp>
      <p:sp>
        <p:nvSpPr>
          <p:cNvPr id="4" name="Text Placeholder 3"/>
          <p:cNvSpPr>
            <a:spLocks noGrp="1"/>
          </p:cNvSpPr>
          <p:nvPr>
            <p:ph type="body" sz="half" idx="2"/>
          </p:nvPr>
        </p:nvSpPr>
        <p:spPr>
          <a:xfrm>
            <a:off x="856024" y="5124020"/>
            <a:ext cx="7433144"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37338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93" y="609600"/>
            <a:ext cx="7429466" cy="3429000"/>
          </a:xfrm>
        </p:spPr>
        <p:txBody>
          <a:bodyPr anchor="ctr">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856058" y="4419600"/>
            <a:ext cx="7428344"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265134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748429"/>
          </a:xfrm>
        </p:spPr>
        <p:txBody>
          <a:bodyPr anchor="ctr">
            <a:normAutofit/>
          </a:bodyPr>
          <a:lstStyle>
            <a:lvl1pPr>
              <a:defRPr sz="3600"/>
            </a:lvl1pPr>
          </a:lstStyle>
          <a:p>
            <a:r>
              <a:rPr lang="en-GB"/>
              <a:t>Click to edit Master title style</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856058" y="4309919"/>
            <a:ext cx="74295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52" name="TextBox 51"/>
          <p:cNvSpPr txBox="1"/>
          <p:nvPr/>
        </p:nvSpPr>
        <p:spPr>
          <a:xfrm>
            <a:off x="696579" y="718458"/>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53" name="TextBox 52"/>
          <p:cNvSpPr txBox="1"/>
          <p:nvPr/>
        </p:nvSpPr>
        <p:spPr>
          <a:xfrm>
            <a:off x="7817473" y="276497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Tree>
    <p:extLst>
      <p:ext uri="{BB962C8B-B14F-4D97-AF65-F5344CB8AC3E}">
        <p14:creationId xmlns:p14="http://schemas.microsoft.com/office/powerpoint/2010/main" val="22639241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58" y="2134042"/>
            <a:ext cx="7429501" cy="2511835"/>
          </a:xfrm>
        </p:spPr>
        <p:txBody>
          <a:bodyPr anchor="b">
            <a:normAutofit/>
          </a:bodyPr>
          <a:lstStyle>
            <a:lvl1pPr>
              <a:defRPr sz="3600"/>
            </a:lvl1pPr>
          </a:lstStyle>
          <a:p>
            <a:r>
              <a:rPr lang="en-GB"/>
              <a:t>Click to edit Master title style</a:t>
            </a:r>
            <a:endParaRPr lang="en-US" dirty="0"/>
          </a:p>
        </p:txBody>
      </p:sp>
      <p:sp>
        <p:nvSpPr>
          <p:cNvPr id="4" name="Text Placeholder 3"/>
          <p:cNvSpPr>
            <a:spLocks noGrp="1"/>
          </p:cNvSpPr>
          <p:nvPr>
            <p:ph type="body" sz="half" idx="2"/>
          </p:nvPr>
        </p:nvSpPr>
        <p:spPr>
          <a:xfrm>
            <a:off x="856023" y="4657655"/>
            <a:ext cx="7428379"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657760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56060" y="609600"/>
            <a:ext cx="7429499" cy="1905000"/>
          </a:xfrm>
        </p:spPr>
        <p:txBody>
          <a:bodyPr/>
          <a:lstStyle/>
          <a:p>
            <a:r>
              <a:rPr lang="en-GB"/>
              <a:t>Click to edit Master title style</a:t>
            </a:r>
            <a:endParaRPr lang="en-US" dirty="0"/>
          </a:p>
        </p:txBody>
      </p:sp>
      <p:sp>
        <p:nvSpPr>
          <p:cNvPr id="7" name="Text Placeholder 2"/>
          <p:cNvSpPr>
            <a:spLocks noGrp="1"/>
          </p:cNvSpPr>
          <p:nvPr>
            <p:ph type="body" idx="1"/>
          </p:nvPr>
        </p:nvSpPr>
        <p:spPr>
          <a:xfrm>
            <a:off x="856058" y="2674463"/>
            <a:ext cx="2397674"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856059" y="3360263"/>
            <a:ext cx="2396432"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3386075" y="2677635"/>
            <a:ext cx="2388289"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3386075" y="3363435"/>
            <a:ext cx="238895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5889332" y="2674463"/>
            <a:ext cx="2396226"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5889332" y="3360263"/>
            <a:ext cx="2396226"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10/11/2025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782843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56059" y="609600"/>
            <a:ext cx="7429499" cy="1905000"/>
          </a:xfrm>
        </p:spPr>
        <p:txBody>
          <a:bodyPr/>
          <a:lstStyle/>
          <a:p>
            <a:r>
              <a:rPr lang="en-GB"/>
              <a:t>Click to edit Master title style</a:t>
            </a:r>
            <a:endParaRPr lang="en-US" dirty="0"/>
          </a:p>
        </p:txBody>
      </p:sp>
      <p:sp>
        <p:nvSpPr>
          <p:cNvPr id="19" name="Text Placeholder 2"/>
          <p:cNvSpPr>
            <a:spLocks noGrp="1"/>
          </p:cNvSpPr>
          <p:nvPr>
            <p:ph type="body" idx="1"/>
          </p:nvPr>
        </p:nvSpPr>
        <p:spPr>
          <a:xfrm>
            <a:off x="856060" y="4404596"/>
            <a:ext cx="239643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856060" y="2666998"/>
            <a:ext cx="239643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GB"/>
              <a:t>Click icon to add picture</a:t>
            </a:r>
            <a:endParaRPr lang="en-US" dirty="0"/>
          </a:p>
        </p:txBody>
      </p:sp>
      <p:sp>
        <p:nvSpPr>
          <p:cNvPr id="21" name="Text Placeholder 3"/>
          <p:cNvSpPr>
            <a:spLocks noGrp="1"/>
          </p:cNvSpPr>
          <p:nvPr>
            <p:ph type="body" sz="half" idx="18"/>
          </p:nvPr>
        </p:nvSpPr>
        <p:spPr>
          <a:xfrm>
            <a:off x="856060" y="4980859"/>
            <a:ext cx="239643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3366790" y="4404596"/>
            <a:ext cx="24003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3366790" y="2666998"/>
            <a:ext cx="2399205"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GB"/>
              <a:t>Click icon to add picture</a:t>
            </a:r>
            <a:endParaRPr lang="en-US" dirty="0"/>
          </a:p>
        </p:txBody>
      </p:sp>
      <p:sp>
        <p:nvSpPr>
          <p:cNvPr id="24" name="Text Placeholder 3"/>
          <p:cNvSpPr>
            <a:spLocks noGrp="1"/>
          </p:cNvSpPr>
          <p:nvPr>
            <p:ph type="body" sz="half" idx="19"/>
          </p:nvPr>
        </p:nvSpPr>
        <p:spPr>
          <a:xfrm>
            <a:off x="3365695" y="4980857"/>
            <a:ext cx="24003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5889426" y="4404595"/>
            <a:ext cx="2393056"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5889332" y="2666998"/>
            <a:ext cx="2396227"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GB"/>
              <a:t>Click icon to add picture</a:t>
            </a:r>
            <a:endParaRPr lang="en-US" dirty="0"/>
          </a:p>
        </p:txBody>
      </p:sp>
      <p:sp>
        <p:nvSpPr>
          <p:cNvPr id="27" name="Text Placeholder 3"/>
          <p:cNvSpPr>
            <a:spLocks noGrp="1"/>
          </p:cNvSpPr>
          <p:nvPr>
            <p:ph type="body" sz="half" idx="20"/>
          </p:nvPr>
        </p:nvSpPr>
        <p:spPr>
          <a:xfrm>
            <a:off x="5889332" y="4980855"/>
            <a:ext cx="2396226"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10/11/2025</a:t>
            </a:fld>
            <a:endParaRPr lang="en-US"/>
          </a:p>
        </p:txBody>
      </p:sp>
      <p:sp>
        <p:nvSpPr>
          <p:cNvPr id="4" name="Footer Placeholder 3"/>
          <p:cNvSpPr>
            <a:spLocks noGrp="1"/>
          </p:cNvSpPr>
          <p:nvPr>
            <p:ph type="ftr" sz="quarter" idx="11"/>
          </p:nvPr>
        </p:nvSpPr>
        <p:spPr/>
        <p:txBody>
          <a:bodyPr/>
          <a:lstStyle>
            <a:lvl1pPr>
              <a:defRPr cap="all" baseline="0"/>
            </a:lvl1p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283654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984652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1" y="609600"/>
            <a:ext cx="1503758" cy="5181601"/>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56057" y="609600"/>
            <a:ext cx="5811443" cy="5181601"/>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10/11/2025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146709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9041774" cy="6858001"/>
            <a:chOff x="-14288" y="0"/>
            <a:chExt cx="9041774"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GB"/>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GB"/>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GB"/>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grpSp>
        <p:grpSp>
          <p:nvGrpSpPr>
            <p:cNvPr id="10" name="Group 9"/>
            <p:cNvGrpSpPr/>
            <p:nvPr/>
          </p:nvGrpSpPr>
          <p:grpSpPr>
            <a:xfrm>
              <a:off x="8352798"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GB"/>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GB"/>
              </a:p>
            </p:txBody>
          </p:sp>
        </p:grpSp>
      </p:grpSp>
      <p:sp>
        <p:nvSpPr>
          <p:cNvPr id="2" name="Title Placeholder 1"/>
          <p:cNvSpPr>
            <a:spLocks noGrp="1"/>
          </p:cNvSpPr>
          <p:nvPr>
            <p:ph type="title"/>
          </p:nvPr>
        </p:nvSpPr>
        <p:spPr>
          <a:xfrm>
            <a:off x="856060" y="618518"/>
            <a:ext cx="7429499"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56060" y="2249487"/>
            <a:ext cx="7429499" cy="3541714"/>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5592691" y="5883277"/>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10/11/2025</a:t>
            </a:fld>
            <a:endParaRPr lang="en-US"/>
          </a:p>
        </p:txBody>
      </p:sp>
      <p:sp>
        <p:nvSpPr>
          <p:cNvPr id="5" name="Footer Placeholder 4"/>
          <p:cNvSpPr>
            <a:spLocks noGrp="1"/>
          </p:cNvSpPr>
          <p:nvPr>
            <p:ph type="ftr" sz="quarter" idx="3"/>
          </p:nvPr>
        </p:nvSpPr>
        <p:spPr>
          <a:xfrm>
            <a:off x="856059" y="5883276"/>
            <a:ext cx="4679482"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707241" y="5883275"/>
            <a:ext cx="578317"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90372085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7610" y="210531"/>
            <a:ext cx="7429499" cy="1478570"/>
          </a:xfrm>
        </p:spPr>
        <p:txBody>
          <a:bodyPr/>
          <a:lstStyle/>
          <a:p>
            <a:pPr algn="l"/>
            <a:r>
              <a:rPr dirty="0"/>
              <a:t>Introduction</a:t>
            </a:r>
          </a:p>
        </p:txBody>
      </p:sp>
      <p:sp>
        <p:nvSpPr>
          <p:cNvPr id="3" name="Content Placeholder 2"/>
          <p:cNvSpPr>
            <a:spLocks noGrp="1"/>
          </p:cNvSpPr>
          <p:nvPr>
            <p:ph idx="1"/>
          </p:nvPr>
        </p:nvSpPr>
        <p:spPr>
          <a:xfrm>
            <a:off x="457200" y="1652588"/>
            <a:ext cx="7962900" cy="3516311"/>
          </a:xfrm>
        </p:spPr>
        <p:txBody>
          <a:bodyPr>
            <a:normAutofit fontScale="77500" lnSpcReduction="20000"/>
          </a:bodyPr>
          <a:lstStyle/>
          <a:p>
            <a:r>
              <a:rPr dirty="0"/>
              <a:t>Convolutional Neural Networks (CNNs) </a:t>
            </a:r>
            <a:r>
              <a:rPr lang="en-GB" dirty="0"/>
              <a:t>are a specialised type of deep learning algorithm that </a:t>
            </a:r>
            <a:r>
              <a:rPr dirty="0"/>
              <a:t>have transformed computer vision and pattern recognition.</a:t>
            </a:r>
            <a:endParaRPr lang="en-GB" dirty="0"/>
          </a:p>
          <a:p>
            <a:endParaRPr dirty="0"/>
          </a:p>
          <a:p>
            <a:r>
              <a:rPr dirty="0"/>
              <a:t>CNNs </a:t>
            </a:r>
            <a:r>
              <a:rPr lang="en-GB" dirty="0"/>
              <a:t>are widely used iv various practical applications such as autonomous vehicles and security systems</a:t>
            </a:r>
          </a:p>
          <a:p>
            <a:endParaRPr dirty="0"/>
          </a:p>
          <a:p>
            <a:r>
              <a:rPr dirty="0"/>
              <a:t>Optical Neural Networks (ONNs) represent the next hardware evolution for AI efficiency</a:t>
            </a:r>
            <a:r>
              <a:rPr lang="en-GB" dirty="0"/>
              <a:t> implementing optical components into Artificial Neural Networks (ANNs).</a:t>
            </a:r>
            <a:endParaRPr dirty="0"/>
          </a:p>
        </p:txBody>
      </p:sp>
      <p:sp>
        <p:nvSpPr>
          <p:cNvPr id="4" name="AutoShape 2" descr="Light Effect Business Technology Blue Dark Computer Powerpoint ...">
            <a:extLst>
              <a:ext uri="{FF2B5EF4-FFF2-40B4-BE49-F238E27FC236}">
                <a16:creationId xmlns:a16="http://schemas.microsoft.com/office/drawing/2014/main" id="{1385A43C-3A59-9AEF-459B-26EA38C36D62}"/>
              </a:ext>
            </a:extLst>
          </p:cNvPr>
          <p:cNvSpPr>
            <a:spLocks noChangeAspect="1" noChangeArrowheads="1"/>
          </p:cNvSpPr>
          <p:nvPr/>
        </p:nvSpPr>
        <p:spPr bwMode="auto">
          <a:xfrm>
            <a:off x="857250" y="4572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6507" y="520089"/>
            <a:ext cx="4729038" cy="773701"/>
          </a:xfrm>
        </p:spPr>
        <p:txBody>
          <a:bodyPr>
            <a:normAutofit fontScale="90000"/>
          </a:bodyPr>
          <a:lstStyle/>
          <a:p>
            <a:r>
              <a:rPr lang="en-GB" dirty="0"/>
              <a:t>How DO CNNs work?</a:t>
            </a:r>
            <a:endParaRPr dirty="0"/>
          </a:p>
        </p:txBody>
      </p:sp>
      <p:sp>
        <p:nvSpPr>
          <p:cNvPr id="3" name="Content Placeholder 2"/>
          <p:cNvSpPr>
            <a:spLocks noGrp="1"/>
          </p:cNvSpPr>
          <p:nvPr>
            <p:ph idx="1"/>
          </p:nvPr>
        </p:nvSpPr>
        <p:spPr>
          <a:xfrm>
            <a:off x="776507" y="1312808"/>
            <a:ext cx="7429499" cy="3541714"/>
          </a:xfrm>
        </p:spPr>
        <p:txBody>
          <a:bodyPr>
            <a:normAutofit fontScale="62500" lnSpcReduction="20000"/>
          </a:bodyPr>
          <a:lstStyle/>
          <a:p>
            <a:r>
              <a:rPr lang="en-GB" dirty="0"/>
              <a:t>CNNs are made up of multiple key layers that an image must pass through.</a:t>
            </a:r>
          </a:p>
          <a:p>
            <a:r>
              <a:rPr lang="en-GB" dirty="0"/>
              <a:t>The first layer is the Input Layer: The image is inserted into the network - you can imagine the image as a cuboid structure with a height, length and width.</a:t>
            </a:r>
          </a:p>
          <a:p>
            <a:r>
              <a:rPr lang="en-GB" dirty="0"/>
              <a:t>The image is passed onto the</a:t>
            </a:r>
            <a:r>
              <a:rPr dirty="0"/>
              <a:t> Convolution Layer: Applies filters </a:t>
            </a:r>
            <a:r>
              <a:rPr lang="en-GB" dirty="0"/>
              <a:t>called kernels which “slide” along the image to extract key features, producing what is known as an </a:t>
            </a:r>
            <a:r>
              <a:rPr lang="en-GB" b="1" dirty="0"/>
              <a:t>Activation Map.</a:t>
            </a:r>
            <a:endParaRPr b="1" dirty="0"/>
          </a:p>
          <a:p>
            <a:r>
              <a:rPr dirty="0"/>
              <a:t> Pooling Layer: </a:t>
            </a:r>
            <a:r>
              <a:rPr lang="en-GB" dirty="0"/>
              <a:t>These layers reduce the spatial size of the Activation Maps, decreasing the number of parameters, thus reducing the computations required for training.</a:t>
            </a:r>
          </a:p>
          <a:p>
            <a:r>
              <a:rPr dirty="0"/>
              <a:t>Fully Connected Layer: </a:t>
            </a:r>
            <a:r>
              <a:rPr lang="en-GB" dirty="0"/>
              <a:t>Flattens the data from the last convolutional layer into a 1-dimensional vector which can then be used to perform classification or regression tasks.</a:t>
            </a:r>
            <a:endParaRPr dirty="0"/>
          </a:p>
          <a:p>
            <a:r>
              <a:rPr dirty="0"/>
              <a:t> Activation Function: </a:t>
            </a:r>
            <a:r>
              <a:rPr lang="en-GB" dirty="0"/>
              <a:t>Enables the neural network to capture non-linear relationships in data.</a:t>
            </a:r>
            <a:endParaRPr dirty="0"/>
          </a:p>
        </p:txBody>
      </p:sp>
      <p:pic>
        <p:nvPicPr>
          <p:cNvPr id="2050" name="Picture 2" descr="5 Common Architectures in Convolution Neural Networks (CNN) | Analytics ...">
            <a:extLst>
              <a:ext uri="{FF2B5EF4-FFF2-40B4-BE49-F238E27FC236}">
                <a16:creationId xmlns:a16="http://schemas.microsoft.com/office/drawing/2014/main" id="{49FCBDE6-BDF7-04EE-10CE-E1F5652586A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0208" b="17883"/>
          <a:stretch>
            <a:fillRect/>
          </a:stretch>
        </p:blipFill>
        <p:spPr bwMode="auto">
          <a:xfrm>
            <a:off x="771277" y="4627659"/>
            <a:ext cx="7832034" cy="20514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6059" y="176558"/>
            <a:ext cx="7429499" cy="1478570"/>
          </a:xfrm>
        </p:spPr>
        <p:txBody>
          <a:bodyPr/>
          <a:lstStyle/>
          <a:p>
            <a:r>
              <a:rPr dirty="0"/>
              <a:t>Historical Development</a:t>
            </a:r>
          </a:p>
        </p:txBody>
      </p:sp>
      <p:sp>
        <p:nvSpPr>
          <p:cNvPr id="3" name="Content Placeholder 2"/>
          <p:cNvSpPr>
            <a:spLocks noGrp="1"/>
          </p:cNvSpPr>
          <p:nvPr>
            <p:ph idx="1"/>
          </p:nvPr>
        </p:nvSpPr>
        <p:spPr>
          <a:xfrm>
            <a:off x="856060" y="1417320"/>
            <a:ext cx="7429499" cy="4373881"/>
          </a:xfrm>
        </p:spPr>
        <p:txBody>
          <a:bodyPr>
            <a:normAutofit lnSpcReduction="10000"/>
          </a:bodyPr>
          <a:lstStyle/>
          <a:p>
            <a:r>
              <a:rPr dirty="0"/>
              <a:t> </a:t>
            </a:r>
            <a:r>
              <a:rPr lang="en-GB" dirty="0"/>
              <a:t>CNNs have been theorised and developed for decades listed below are some of the key points of development for CNNs.</a:t>
            </a:r>
          </a:p>
          <a:p>
            <a:r>
              <a:rPr dirty="0"/>
              <a:t>1989: LeNet-5 (LeCun) — digit recognition.</a:t>
            </a:r>
          </a:p>
          <a:p>
            <a:r>
              <a:rPr dirty="0"/>
              <a:t> 2012: </a:t>
            </a:r>
            <a:r>
              <a:rPr dirty="0" err="1"/>
              <a:t>AlexNet</a:t>
            </a:r>
            <a:r>
              <a:rPr dirty="0"/>
              <a:t> — deep CNNs outperform traditional methods.</a:t>
            </a:r>
          </a:p>
          <a:p>
            <a:r>
              <a:rPr dirty="0"/>
              <a:t> 2014: </a:t>
            </a:r>
            <a:r>
              <a:rPr dirty="0" err="1"/>
              <a:t>VGGNet</a:t>
            </a:r>
            <a:r>
              <a:rPr dirty="0"/>
              <a:t> — uniform architecture, small filters.</a:t>
            </a:r>
          </a:p>
          <a:p>
            <a:r>
              <a:rPr dirty="0"/>
              <a:t> 2015: </a:t>
            </a:r>
            <a:r>
              <a:rPr dirty="0" err="1"/>
              <a:t>ResNet</a:t>
            </a:r>
            <a:r>
              <a:rPr dirty="0"/>
              <a:t> — introduced residual connections for very deep networks.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Applications of CNNs in Research and Industry</a:t>
            </a:r>
          </a:p>
        </p:txBody>
      </p:sp>
      <p:sp>
        <p:nvSpPr>
          <p:cNvPr id="3" name="Content Placeholder 2"/>
          <p:cNvSpPr>
            <a:spLocks noGrp="1"/>
          </p:cNvSpPr>
          <p:nvPr>
            <p:ph idx="1"/>
          </p:nvPr>
        </p:nvSpPr>
        <p:spPr/>
        <p:txBody>
          <a:bodyPr/>
          <a:lstStyle/>
          <a:p>
            <a:r>
              <a:rPr dirty="0"/>
              <a:t> Image classification (ImageNet, CIFAR-10).</a:t>
            </a:r>
          </a:p>
          <a:p>
            <a:r>
              <a:rPr dirty="0"/>
              <a:t> Object detection (YOLO, Faster R-CNN).</a:t>
            </a:r>
          </a:p>
          <a:p>
            <a:r>
              <a:rPr dirty="0"/>
              <a:t> Medical imaging (tumor and retinal scan analysis).</a:t>
            </a:r>
          </a:p>
          <a:p>
            <a:r>
              <a:rPr dirty="0"/>
              <a:t> Autonomous systems (perception in self-driving cars).</a:t>
            </a:r>
          </a:p>
          <a:p>
            <a:r>
              <a:rPr dirty="0"/>
              <a:t> Natural language processing (character-level CNNs).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523F7-7EB9-8631-5298-43F1BF3853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7925E-925E-DA14-BC66-A91848CBE846}"/>
              </a:ext>
            </a:extLst>
          </p:cNvPr>
          <p:cNvSpPr>
            <a:spLocks noGrp="1"/>
          </p:cNvSpPr>
          <p:nvPr>
            <p:ph type="title"/>
          </p:nvPr>
        </p:nvSpPr>
        <p:spPr/>
        <p:txBody>
          <a:bodyPr>
            <a:normAutofit/>
          </a:bodyPr>
          <a:lstStyle/>
          <a:p>
            <a:r>
              <a:rPr lang="en-GB" dirty="0"/>
              <a:t>Case Study - amazon</a:t>
            </a:r>
            <a:endParaRPr dirty="0"/>
          </a:p>
        </p:txBody>
      </p:sp>
      <p:sp>
        <p:nvSpPr>
          <p:cNvPr id="3" name="Content Placeholder 2">
            <a:extLst>
              <a:ext uri="{FF2B5EF4-FFF2-40B4-BE49-F238E27FC236}">
                <a16:creationId xmlns:a16="http://schemas.microsoft.com/office/drawing/2014/main" id="{635CF097-169C-9D31-B837-D443FC256123}"/>
              </a:ext>
            </a:extLst>
          </p:cNvPr>
          <p:cNvSpPr>
            <a:spLocks noGrp="1"/>
          </p:cNvSpPr>
          <p:nvPr>
            <p:ph idx="1"/>
          </p:nvPr>
        </p:nvSpPr>
        <p:spPr>
          <a:xfrm>
            <a:off x="856060" y="1845627"/>
            <a:ext cx="7429499" cy="3541714"/>
          </a:xfrm>
        </p:spPr>
        <p:txBody>
          <a:bodyPr>
            <a:normAutofit fontScale="85000" lnSpcReduction="20000"/>
          </a:bodyPr>
          <a:lstStyle/>
          <a:p>
            <a:r>
              <a:rPr lang="en-GB" dirty="0"/>
              <a:t>Amazon is one of many companies that utilise CNNs, specifically they use them to train their forecasting models enhancing their speed and accuracy.</a:t>
            </a:r>
          </a:p>
          <a:p>
            <a:r>
              <a:rPr lang="en-GB" dirty="0"/>
              <a:t>The CNN algorithm compared to their original forecast algorithm can more accurately detect key indicators of demand, such as pre-order information, product page visits, promotional spikes, etc. allowing for more accurate forecasts.</a:t>
            </a:r>
          </a:p>
          <a:p>
            <a:r>
              <a:rPr lang="en-GB" dirty="0"/>
              <a:t>Not only does this maximise the sales Amazon can make daily this algorithm is also openly available to all businesses through Amazon’s API which requires a fee to use.</a:t>
            </a:r>
            <a:endParaRPr dirty="0"/>
          </a:p>
        </p:txBody>
      </p:sp>
    </p:spTree>
    <p:extLst>
      <p:ext uri="{BB962C8B-B14F-4D97-AF65-F5344CB8AC3E}">
        <p14:creationId xmlns:p14="http://schemas.microsoft.com/office/powerpoint/2010/main" val="2385081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 Study — Tesla Autopilot</a:t>
            </a:r>
          </a:p>
        </p:txBody>
      </p:sp>
      <p:sp>
        <p:nvSpPr>
          <p:cNvPr id="3" name="Content Placeholder 2"/>
          <p:cNvSpPr>
            <a:spLocks noGrp="1"/>
          </p:cNvSpPr>
          <p:nvPr>
            <p:ph idx="1"/>
          </p:nvPr>
        </p:nvSpPr>
        <p:spPr>
          <a:xfrm>
            <a:off x="856059" y="1822767"/>
            <a:ext cx="7429499" cy="3541714"/>
          </a:xfrm>
        </p:spPr>
        <p:txBody>
          <a:bodyPr>
            <a:normAutofit fontScale="85000" lnSpcReduction="20000"/>
          </a:bodyPr>
          <a:lstStyle/>
          <a:p>
            <a:r>
              <a:rPr dirty="0"/>
              <a:t>Uses CNNs for real-time visual perception from multiple cameras</a:t>
            </a:r>
            <a:r>
              <a:rPr lang="en-GB" dirty="0"/>
              <a:t>, allowing the recognition of objects such as vehicles, road lanes and pedestrians. </a:t>
            </a:r>
          </a:p>
          <a:p>
            <a:r>
              <a:rPr lang="en-GB" dirty="0"/>
              <a:t>Once again these systems are trained on vast amounts of data and simulations to ensure that the cameras and sensors can accurately identify what objects are nearby.</a:t>
            </a:r>
          </a:p>
          <a:p>
            <a:r>
              <a:rPr lang="en-GB" dirty="0"/>
              <a:t>The information gathered by the sensors are processed by the NVIDIA Drive AGX Pegasus AI computer (another company which is deeply involved with CNNs) constantly updating Tesla’s autopilot software.</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9A309-E4E3-226F-60F3-11D629E805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CA02A-EA01-8DF6-6BF8-9BB326216A2D}"/>
              </a:ext>
            </a:extLst>
          </p:cNvPr>
          <p:cNvSpPr>
            <a:spLocks noGrp="1"/>
          </p:cNvSpPr>
          <p:nvPr>
            <p:ph type="title"/>
          </p:nvPr>
        </p:nvSpPr>
        <p:spPr/>
        <p:txBody>
          <a:bodyPr/>
          <a:lstStyle/>
          <a:p>
            <a:r>
              <a:rPr dirty="0"/>
              <a:t>Case Study — </a:t>
            </a:r>
            <a:r>
              <a:rPr lang="en-GB" dirty="0" err="1"/>
              <a:t>Hyperverge</a:t>
            </a:r>
            <a:endParaRPr dirty="0"/>
          </a:p>
        </p:txBody>
      </p:sp>
      <p:sp>
        <p:nvSpPr>
          <p:cNvPr id="3" name="Content Placeholder 2">
            <a:extLst>
              <a:ext uri="{FF2B5EF4-FFF2-40B4-BE49-F238E27FC236}">
                <a16:creationId xmlns:a16="http://schemas.microsoft.com/office/drawing/2014/main" id="{B6BFA8CD-245E-4024-B558-F3CF35C92A81}"/>
              </a:ext>
            </a:extLst>
          </p:cNvPr>
          <p:cNvSpPr>
            <a:spLocks noGrp="1"/>
          </p:cNvSpPr>
          <p:nvPr>
            <p:ph idx="1"/>
          </p:nvPr>
        </p:nvSpPr>
        <p:spPr>
          <a:xfrm>
            <a:off x="856059" y="1822766"/>
            <a:ext cx="7429499" cy="3983673"/>
          </a:xfrm>
        </p:spPr>
        <p:txBody>
          <a:bodyPr>
            <a:normAutofit fontScale="85000" lnSpcReduction="20000"/>
          </a:bodyPr>
          <a:lstStyle/>
          <a:p>
            <a:r>
              <a:rPr lang="en-GB" dirty="0" err="1"/>
              <a:t>HyperVerge</a:t>
            </a:r>
            <a:r>
              <a:rPr lang="en-GB" dirty="0"/>
              <a:t> is a security company which uses deep learning algorithms to analyse images of identity documents. </a:t>
            </a:r>
          </a:p>
          <a:p>
            <a:r>
              <a:rPr lang="en-GB" dirty="0"/>
              <a:t>They are also one of the forerunners in facial recognition software and liveness detection, preventing identity fraud and deepfakes.</a:t>
            </a:r>
          </a:p>
          <a:p>
            <a:r>
              <a:rPr lang="en-GB" dirty="0"/>
              <a:t>This process begins with the algorithm isolating human faces in images or videos, once faces are detected key features are extracted and mapped into mathematical representations known as feature vectors.</a:t>
            </a:r>
          </a:p>
          <a:p>
            <a:r>
              <a:rPr lang="en-GB" dirty="0"/>
              <a:t>This is then compared to a database of known faces until a match is found.</a:t>
            </a:r>
          </a:p>
          <a:p>
            <a:r>
              <a:rPr lang="en-GB" dirty="0"/>
              <a:t>Due to the accuracy of this system, it is used in many high-security environments such as Banks, Airports and government buildings.</a:t>
            </a:r>
            <a:endParaRPr dirty="0"/>
          </a:p>
        </p:txBody>
      </p:sp>
    </p:spTree>
    <p:extLst>
      <p:ext uri="{BB962C8B-B14F-4D97-AF65-F5344CB8AC3E}">
        <p14:creationId xmlns:p14="http://schemas.microsoft.com/office/powerpoint/2010/main" val="21860083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A21B6-7EAF-4EA6-19FD-9F398D76D8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1CAEB9-C8A1-86D7-002A-C9F1E8F52565}"/>
              </a:ext>
            </a:extLst>
          </p:cNvPr>
          <p:cNvSpPr>
            <a:spLocks noGrp="1"/>
          </p:cNvSpPr>
          <p:nvPr>
            <p:ph type="title"/>
          </p:nvPr>
        </p:nvSpPr>
        <p:spPr/>
        <p:txBody>
          <a:bodyPr/>
          <a:lstStyle/>
          <a:p>
            <a:r>
              <a:rPr dirty="0"/>
              <a:t>Case Study — </a:t>
            </a:r>
            <a:r>
              <a:rPr lang="en-GB" dirty="0"/>
              <a:t>Viz.ai</a:t>
            </a:r>
            <a:endParaRPr dirty="0"/>
          </a:p>
        </p:txBody>
      </p:sp>
      <p:sp>
        <p:nvSpPr>
          <p:cNvPr id="3" name="Content Placeholder 2">
            <a:extLst>
              <a:ext uri="{FF2B5EF4-FFF2-40B4-BE49-F238E27FC236}">
                <a16:creationId xmlns:a16="http://schemas.microsoft.com/office/drawing/2014/main" id="{EF822CE5-94AA-AAE3-A986-1E3CB0CD97A1}"/>
              </a:ext>
            </a:extLst>
          </p:cNvPr>
          <p:cNvSpPr>
            <a:spLocks noGrp="1"/>
          </p:cNvSpPr>
          <p:nvPr>
            <p:ph idx="1"/>
          </p:nvPr>
        </p:nvSpPr>
        <p:spPr>
          <a:xfrm>
            <a:off x="856059" y="1822766"/>
            <a:ext cx="7429499" cy="3983673"/>
          </a:xfrm>
        </p:spPr>
        <p:txBody>
          <a:bodyPr>
            <a:normAutofit fontScale="77500" lnSpcReduction="20000"/>
          </a:bodyPr>
          <a:lstStyle/>
          <a:p>
            <a:r>
              <a:rPr lang="en-GB" dirty="0"/>
              <a:t>Viz.ai is a startup which is now one of the leading AI in healthcare companies in the world, specialising in the analysis of medical imaging and clinical data.</a:t>
            </a:r>
          </a:p>
          <a:p>
            <a:r>
              <a:rPr lang="en-GB" dirty="0"/>
              <a:t>Viz.ai addresses key problems in the healthcare industry such as delayed diagnoses and lack of staff.</a:t>
            </a:r>
          </a:p>
          <a:p>
            <a:r>
              <a:rPr lang="en-GB" dirty="0"/>
              <a:t>Following the same process as the previous case studies, Viz.ai is trained off of a large dataset of medical images which have known and labelled features. From this training Viz.ai is now able to automatically detect any abnormalities in a range of medical imaging such as CT scans and MRIs.</a:t>
            </a:r>
          </a:p>
          <a:p>
            <a:r>
              <a:rPr lang="en-GB" dirty="0"/>
              <a:t>What began as a startup now has 12 FDA-approved algorithms, and agreements with more than 1,500 US hospitals.</a:t>
            </a:r>
            <a:endParaRPr dirty="0"/>
          </a:p>
        </p:txBody>
      </p:sp>
    </p:spTree>
    <p:extLst>
      <p:ext uri="{BB962C8B-B14F-4D97-AF65-F5344CB8AC3E}">
        <p14:creationId xmlns:p14="http://schemas.microsoft.com/office/powerpoint/2010/main" val="3448903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Limitations</a:t>
            </a:r>
            <a:r>
              <a:rPr lang="en-GB" dirty="0"/>
              <a:t> of</a:t>
            </a:r>
            <a:r>
              <a:rPr dirty="0"/>
              <a:t> CNNs</a:t>
            </a:r>
          </a:p>
        </p:txBody>
      </p:sp>
      <p:sp>
        <p:nvSpPr>
          <p:cNvPr id="3" name="Content Placeholder 2"/>
          <p:cNvSpPr>
            <a:spLocks noGrp="1"/>
          </p:cNvSpPr>
          <p:nvPr>
            <p:ph idx="1"/>
          </p:nvPr>
        </p:nvSpPr>
        <p:spPr/>
        <p:txBody>
          <a:bodyPr>
            <a:normAutofit fontScale="92500"/>
          </a:bodyPr>
          <a:lstStyle/>
          <a:p>
            <a:r>
              <a:rPr dirty="0"/>
              <a:t> Computationally intensive: millions of parameters</a:t>
            </a:r>
            <a:r>
              <a:rPr lang="en-GB" dirty="0"/>
              <a:t>, require significant resources for training.</a:t>
            </a:r>
            <a:endParaRPr dirty="0"/>
          </a:p>
          <a:p>
            <a:r>
              <a:rPr lang="en-GB" dirty="0"/>
              <a:t>Data Dependency: CNNs require large amounts of labelled data for accurate training which can be difficult to obtain.</a:t>
            </a:r>
          </a:p>
          <a:p>
            <a:r>
              <a:rPr lang="en-GB" dirty="0"/>
              <a:t>Interpretability: It can sometimes be difficult to understand why a particular decision was made by the CNN.</a:t>
            </a:r>
          </a:p>
          <a:p>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What are</a:t>
            </a:r>
            <a:r>
              <a:rPr dirty="0"/>
              <a:t> Optical Neural Networks (ONNs)</a:t>
            </a:r>
          </a:p>
        </p:txBody>
      </p:sp>
      <p:sp>
        <p:nvSpPr>
          <p:cNvPr id="3" name="Content Placeholder 2"/>
          <p:cNvSpPr>
            <a:spLocks noGrp="1"/>
          </p:cNvSpPr>
          <p:nvPr>
            <p:ph idx="1"/>
          </p:nvPr>
        </p:nvSpPr>
        <p:spPr/>
        <p:txBody>
          <a:bodyPr>
            <a:normAutofit fontScale="92500"/>
          </a:bodyPr>
          <a:lstStyle/>
          <a:p>
            <a:r>
              <a:rPr lang="en-GB" dirty="0"/>
              <a:t>ONNs are physical implementations of an ANN which explore the use of photonics (manipulation of photons) instead of electronics.</a:t>
            </a:r>
          </a:p>
          <a:p>
            <a:r>
              <a:rPr lang="en-GB" dirty="0"/>
              <a:t>Photonic solutions are able to significantly reduce the power consumption of data operations and increase the speed.</a:t>
            </a:r>
          </a:p>
          <a:p>
            <a:r>
              <a:rPr lang="en-GB" dirty="0"/>
              <a:t>Linear mathematical operations are able to be performed at the speed of light with the use of ONNs.</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70A3A-CC6E-1CAC-432E-D5AD235BBC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DF1B30-DACB-CF94-9CF9-43F87EEF0245}"/>
              </a:ext>
            </a:extLst>
          </p:cNvPr>
          <p:cNvSpPr>
            <a:spLocks noGrp="1"/>
          </p:cNvSpPr>
          <p:nvPr>
            <p:ph type="title"/>
          </p:nvPr>
        </p:nvSpPr>
        <p:spPr/>
        <p:txBody>
          <a:bodyPr>
            <a:normAutofit/>
          </a:bodyPr>
          <a:lstStyle/>
          <a:p>
            <a:r>
              <a:rPr lang="en-GB" dirty="0"/>
              <a:t>Activity Lets get into the thick of it</a:t>
            </a:r>
            <a:endParaRPr dirty="0"/>
          </a:p>
        </p:txBody>
      </p:sp>
      <p:pic>
        <p:nvPicPr>
          <p:cNvPr id="1026" name="Picture 2" descr="Introduction to Convolutional Neural Network (CNN) using Tensorflow | by  Govinda Dumane | TDS Archive | Medium">
            <a:extLst>
              <a:ext uri="{FF2B5EF4-FFF2-40B4-BE49-F238E27FC236}">
                <a16:creationId xmlns:a16="http://schemas.microsoft.com/office/drawing/2014/main" id="{E1C87C57-63D5-4302-A40E-4A23434B4B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0180" y="2681068"/>
            <a:ext cx="2926552" cy="293194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qr code with a white background&#10;&#10;AI-generated content may be incorrect.">
            <a:extLst>
              <a:ext uri="{FF2B5EF4-FFF2-40B4-BE49-F238E27FC236}">
                <a16:creationId xmlns:a16="http://schemas.microsoft.com/office/drawing/2014/main" id="{07C13C39-764C-31B5-E986-F2E20598D1E3}"/>
              </a:ext>
            </a:extLst>
          </p:cNvPr>
          <p:cNvPicPr>
            <a:picLocks noChangeAspect="1"/>
          </p:cNvPicPr>
          <p:nvPr/>
        </p:nvPicPr>
        <p:blipFill>
          <a:blip r:embed="rId3"/>
          <a:stretch>
            <a:fillRect/>
          </a:stretch>
        </p:blipFill>
        <p:spPr>
          <a:xfrm>
            <a:off x="856060" y="1856937"/>
            <a:ext cx="3610558" cy="3610558"/>
          </a:xfrm>
          <a:prstGeom prst="rect">
            <a:avLst/>
          </a:prstGeom>
        </p:spPr>
      </p:pic>
      <p:sp>
        <p:nvSpPr>
          <p:cNvPr id="6" name="TextBox 5">
            <a:extLst>
              <a:ext uri="{FF2B5EF4-FFF2-40B4-BE49-F238E27FC236}">
                <a16:creationId xmlns:a16="http://schemas.microsoft.com/office/drawing/2014/main" id="{367E538E-D50F-D0F0-9064-8AE7400496FA}"/>
              </a:ext>
            </a:extLst>
          </p:cNvPr>
          <p:cNvSpPr txBox="1"/>
          <p:nvPr/>
        </p:nvSpPr>
        <p:spPr>
          <a:xfrm>
            <a:off x="111506" y="5821438"/>
            <a:ext cx="8918605" cy="707886"/>
          </a:xfrm>
          <a:prstGeom prst="rect">
            <a:avLst/>
          </a:prstGeom>
          <a:noFill/>
        </p:spPr>
        <p:txBody>
          <a:bodyPr wrap="square" rtlCol="0">
            <a:spAutoFit/>
          </a:bodyPr>
          <a:lstStyle/>
          <a:p>
            <a:r>
              <a:rPr lang="en-GB" sz="4000" dirty="0"/>
              <a:t>https://github.com/rhyanb01/BOTSQUAD</a:t>
            </a:r>
          </a:p>
        </p:txBody>
      </p:sp>
    </p:spTree>
    <p:extLst>
      <p:ext uri="{BB962C8B-B14F-4D97-AF65-F5344CB8AC3E}">
        <p14:creationId xmlns:p14="http://schemas.microsoft.com/office/powerpoint/2010/main" val="1111912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363F6B-DFC1-2B1B-F61D-AA96B63AD136}"/>
              </a:ext>
            </a:extLst>
          </p:cNvPr>
          <p:cNvSpPr>
            <a:spLocks noGrp="1"/>
          </p:cNvSpPr>
          <p:nvPr>
            <p:ph type="title"/>
          </p:nvPr>
        </p:nvSpPr>
        <p:spPr/>
        <p:txBody>
          <a:bodyPr/>
          <a:lstStyle/>
          <a:p>
            <a:r>
              <a:rPr lang="en-GB" dirty="0"/>
              <a:t>Introduction to CNN Preprocessing</a:t>
            </a:r>
          </a:p>
        </p:txBody>
      </p:sp>
      <p:sp>
        <p:nvSpPr>
          <p:cNvPr id="7" name="Content Placeholder 6">
            <a:extLst>
              <a:ext uri="{FF2B5EF4-FFF2-40B4-BE49-F238E27FC236}">
                <a16:creationId xmlns:a16="http://schemas.microsoft.com/office/drawing/2014/main" id="{B7CE1C17-E68E-F423-8148-DBA192CBB7D5}"/>
              </a:ext>
            </a:extLst>
          </p:cNvPr>
          <p:cNvSpPr>
            <a:spLocks noGrp="1"/>
          </p:cNvSpPr>
          <p:nvPr>
            <p:ph idx="1"/>
          </p:nvPr>
        </p:nvSpPr>
        <p:spPr>
          <a:xfrm>
            <a:off x="856059" y="2097088"/>
            <a:ext cx="7429499" cy="3541714"/>
          </a:xfrm>
        </p:spPr>
        <p:txBody>
          <a:bodyPr/>
          <a:lstStyle/>
          <a:p>
            <a:r>
              <a:rPr lang="en-US" dirty="0"/>
              <a:t>CNN preprocessing transforms raw images into structured data that neural networks can understand. The process involves reducing noise, enhancing important visual features, and highlighting key edges or shapes. Each step from grayscale conversion to pooling simplifies the data while keeping important information intact for the CNN’s learning phase.</a:t>
            </a:r>
            <a:endParaRPr lang="en-GB" dirty="0"/>
          </a:p>
        </p:txBody>
      </p:sp>
      <p:pic>
        <p:nvPicPr>
          <p:cNvPr id="2050" name="Picture 2">
            <a:extLst>
              <a:ext uri="{FF2B5EF4-FFF2-40B4-BE49-F238E27FC236}">
                <a16:creationId xmlns:a16="http://schemas.microsoft.com/office/drawing/2014/main" id="{AB5BA749-F2FF-1ABD-F370-78A851A0F4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998" y="4760914"/>
            <a:ext cx="3323293" cy="18649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D143B-C824-8D61-4A69-CDFA5C67B519}"/>
              </a:ext>
            </a:extLst>
          </p:cNvPr>
          <p:cNvSpPr>
            <a:spLocks noGrp="1"/>
          </p:cNvSpPr>
          <p:nvPr>
            <p:ph type="title"/>
          </p:nvPr>
        </p:nvSpPr>
        <p:spPr>
          <a:xfrm>
            <a:off x="434034" y="618518"/>
            <a:ext cx="8484888" cy="1478570"/>
          </a:xfrm>
        </p:spPr>
        <p:txBody>
          <a:bodyPr/>
          <a:lstStyle/>
          <a:p>
            <a:r>
              <a:rPr lang="en-US" dirty="0"/>
              <a:t>Step 1: Grayscale Kernel Conversion</a:t>
            </a:r>
            <a:endParaRPr lang="en-GB" dirty="0"/>
          </a:p>
        </p:txBody>
      </p:sp>
      <p:sp>
        <p:nvSpPr>
          <p:cNvPr id="3" name="Content Placeholder 2">
            <a:extLst>
              <a:ext uri="{FF2B5EF4-FFF2-40B4-BE49-F238E27FC236}">
                <a16:creationId xmlns:a16="http://schemas.microsoft.com/office/drawing/2014/main" id="{85C3B594-1318-960A-3583-6158FFA6C875}"/>
              </a:ext>
            </a:extLst>
          </p:cNvPr>
          <p:cNvSpPr>
            <a:spLocks noGrp="1"/>
          </p:cNvSpPr>
          <p:nvPr>
            <p:ph idx="1"/>
          </p:nvPr>
        </p:nvSpPr>
        <p:spPr/>
        <p:txBody>
          <a:bodyPr/>
          <a:lstStyle/>
          <a:p>
            <a:r>
              <a:rPr lang="en-US" dirty="0"/>
              <a:t>The grayscale kernel step reduces image channels from three (RGB) to one, removing color while keeping brightness and contrast information. This simplifies computations and ensures that subsequent filters operate on uniform intensity data. Grayscale images help CNNs focus on edges, patterns, and structures rather than color variations.</a:t>
            </a:r>
            <a:endParaRPr lang="en-GB" dirty="0"/>
          </a:p>
        </p:txBody>
      </p:sp>
    </p:spTree>
    <p:extLst>
      <p:ext uri="{BB962C8B-B14F-4D97-AF65-F5344CB8AC3E}">
        <p14:creationId xmlns:p14="http://schemas.microsoft.com/office/powerpoint/2010/main" val="3413962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E4919-A912-0963-243D-9DB46F3ABEC5}"/>
              </a:ext>
            </a:extLst>
          </p:cNvPr>
          <p:cNvSpPr>
            <a:spLocks noGrp="1"/>
          </p:cNvSpPr>
          <p:nvPr>
            <p:ph type="title"/>
          </p:nvPr>
        </p:nvSpPr>
        <p:spPr/>
        <p:txBody>
          <a:bodyPr/>
          <a:lstStyle/>
          <a:p>
            <a:r>
              <a:rPr lang="en-GB" dirty="0"/>
              <a:t>Step 2: Gaussian Blur Filtering</a:t>
            </a:r>
          </a:p>
        </p:txBody>
      </p:sp>
      <p:sp>
        <p:nvSpPr>
          <p:cNvPr id="3" name="Content Placeholder 2">
            <a:extLst>
              <a:ext uri="{FF2B5EF4-FFF2-40B4-BE49-F238E27FC236}">
                <a16:creationId xmlns:a16="http://schemas.microsoft.com/office/drawing/2014/main" id="{F3A99071-2CFD-1651-22A6-C92EA19C43FE}"/>
              </a:ext>
            </a:extLst>
          </p:cNvPr>
          <p:cNvSpPr>
            <a:spLocks noGrp="1"/>
          </p:cNvSpPr>
          <p:nvPr>
            <p:ph idx="1"/>
          </p:nvPr>
        </p:nvSpPr>
        <p:spPr/>
        <p:txBody>
          <a:bodyPr/>
          <a:lstStyle/>
          <a:p>
            <a:r>
              <a:rPr lang="en-US" dirty="0"/>
              <a:t>Gaussian blur smooths the image, reducing noise and small variations that could distract the CNN. This step uses a mathematical kernel that assigns more weight to central pixels, producing soft transitions. By blurring the image slightly, edges become cleaner, making future feature extraction (like Sobel) more stable and consistent.</a:t>
            </a:r>
            <a:endParaRPr lang="en-GB" dirty="0"/>
          </a:p>
        </p:txBody>
      </p:sp>
    </p:spTree>
    <p:extLst>
      <p:ext uri="{BB962C8B-B14F-4D97-AF65-F5344CB8AC3E}">
        <p14:creationId xmlns:p14="http://schemas.microsoft.com/office/powerpoint/2010/main" val="14854609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729BF-C532-5656-5906-F10575497E17}"/>
              </a:ext>
            </a:extLst>
          </p:cNvPr>
          <p:cNvSpPr>
            <a:spLocks noGrp="1"/>
          </p:cNvSpPr>
          <p:nvPr>
            <p:ph type="title"/>
          </p:nvPr>
        </p:nvSpPr>
        <p:spPr/>
        <p:txBody>
          <a:bodyPr/>
          <a:lstStyle/>
          <a:p>
            <a:r>
              <a:rPr lang="en-US" dirty="0"/>
              <a:t>Step 3: Sobel Edge Detection</a:t>
            </a:r>
            <a:endParaRPr lang="en-GB" dirty="0"/>
          </a:p>
        </p:txBody>
      </p:sp>
      <p:sp>
        <p:nvSpPr>
          <p:cNvPr id="3" name="Content Placeholder 2">
            <a:extLst>
              <a:ext uri="{FF2B5EF4-FFF2-40B4-BE49-F238E27FC236}">
                <a16:creationId xmlns:a16="http://schemas.microsoft.com/office/drawing/2014/main" id="{CD8A5C74-B783-4926-0F52-AB7D9C8C6E3C}"/>
              </a:ext>
            </a:extLst>
          </p:cNvPr>
          <p:cNvSpPr>
            <a:spLocks noGrp="1"/>
          </p:cNvSpPr>
          <p:nvPr>
            <p:ph idx="1"/>
          </p:nvPr>
        </p:nvSpPr>
        <p:spPr/>
        <p:txBody>
          <a:bodyPr/>
          <a:lstStyle/>
          <a:p>
            <a:r>
              <a:rPr lang="en-US" dirty="0"/>
              <a:t>The Sobel kernel detects edges by calculating intensity gradients in both horizontal and vertical directions. It highlights regions with strong pixel transitions—key indicators of shapes or boundaries. This process creates an edge map, showing where significant visual features exist, which later CNN layers can use for pattern recognition.</a:t>
            </a:r>
            <a:endParaRPr lang="en-GB" dirty="0"/>
          </a:p>
        </p:txBody>
      </p:sp>
    </p:spTree>
    <p:extLst>
      <p:ext uri="{BB962C8B-B14F-4D97-AF65-F5344CB8AC3E}">
        <p14:creationId xmlns:p14="http://schemas.microsoft.com/office/powerpoint/2010/main" val="25014985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A6E6F-7F04-4497-ABFA-3056273C5A40}"/>
              </a:ext>
            </a:extLst>
          </p:cNvPr>
          <p:cNvSpPr>
            <a:spLocks noGrp="1"/>
          </p:cNvSpPr>
          <p:nvPr>
            <p:ph type="title"/>
          </p:nvPr>
        </p:nvSpPr>
        <p:spPr/>
        <p:txBody>
          <a:bodyPr/>
          <a:lstStyle/>
          <a:p>
            <a:r>
              <a:rPr lang="en-GB" dirty="0"/>
              <a:t>Pooling and </a:t>
            </a:r>
            <a:r>
              <a:rPr lang="en-GB" dirty="0" err="1"/>
              <a:t>Downsampling</a:t>
            </a:r>
            <a:endParaRPr lang="en-GB" dirty="0"/>
          </a:p>
        </p:txBody>
      </p:sp>
      <p:sp>
        <p:nvSpPr>
          <p:cNvPr id="3" name="Content Placeholder 2">
            <a:extLst>
              <a:ext uri="{FF2B5EF4-FFF2-40B4-BE49-F238E27FC236}">
                <a16:creationId xmlns:a16="http://schemas.microsoft.com/office/drawing/2014/main" id="{C8A4CC24-4E5B-0087-E2B2-092F762811DA}"/>
              </a:ext>
            </a:extLst>
          </p:cNvPr>
          <p:cNvSpPr>
            <a:spLocks noGrp="1"/>
          </p:cNvSpPr>
          <p:nvPr>
            <p:ph idx="1"/>
          </p:nvPr>
        </p:nvSpPr>
        <p:spPr/>
        <p:txBody>
          <a:bodyPr/>
          <a:lstStyle/>
          <a:p>
            <a:r>
              <a:rPr lang="en-US" dirty="0"/>
              <a:t>Pooling reduces the spatial size of feature maps, summarizing regions by their strongest activations. Max pooling, for example, retains only the most significant pixel values, ensuring essential features remain while lowering data complexity. Pooling also improves translation invariance, so the CNN recognizes patterns regardless of their position in the image.</a:t>
            </a:r>
            <a:endParaRPr lang="en-GB" dirty="0"/>
          </a:p>
        </p:txBody>
      </p:sp>
    </p:spTree>
    <p:extLst>
      <p:ext uri="{BB962C8B-B14F-4D97-AF65-F5344CB8AC3E}">
        <p14:creationId xmlns:p14="http://schemas.microsoft.com/office/powerpoint/2010/main" val="3004023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B596C-B40E-298A-E3C4-E30E660C25D6}"/>
              </a:ext>
            </a:extLst>
          </p:cNvPr>
          <p:cNvSpPr>
            <a:spLocks noGrp="1"/>
          </p:cNvSpPr>
          <p:nvPr>
            <p:ph type="title"/>
          </p:nvPr>
        </p:nvSpPr>
        <p:spPr/>
        <p:txBody>
          <a:bodyPr/>
          <a:lstStyle/>
          <a:p>
            <a:r>
              <a:rPr lang="en-US" dirty="0"/>
              <a:t>Step 5: Sharpening Filter Application</a:t>
            </a:r>
            <a:endParaRPr lang="en-GB" dirty="0"/>
          </a:p>
        </p:txBody>
      </p:sp>
      <p:sp>
        <p:nvSpPr>
          <p:cNvPr id="3" name="Content Placeholder 2">
            <a:extLst>
              <a:ext uri="{FF2B5EF4-FFF2-40B4-BE49-F238E27FC236}">
                <a16:creationId xmlns:a16="http://schemas.microsoft.com/office/drawing/2014/main" id="{36B3D4EB-9D28-0D2A-5505-995BAD7EFE2B}"/>
              </a:ext>
            </a:extLst>
          </p:cNvPr>
          <p:cNvSpPr>
            <a:spLocks noGrp="1"/>
          </p:cNvSpPr>
          <p:nvPr>
            <p:ph idx="1"/>
          </p:nvPr>
        </p:nvSpPr>
        <p:spPr/>
        <p:txBody>
          <a:bodyPr/>
          <a:lstStyle/>
          <a:p>
            <a:r>
              <a:rPr lang="en-US" dirty="0"/>
              <a:t>Sharpening enhances image contrast by emphasizing edges and details that may have been softened by blurring. It works by subtracting a blurred version of the image from the original, intensifying transitions. In CNN preprocessing, sharpening ensures the network can distinguish between boundaries and subtle textural features during training.</a:t>
            </a:r>
            <a:endParaRPr lang="en-GB" dirty="0"/>
          </a:p>
        </p:txBody>
      </p:sp>
    </p:spTree>
    <p:extLst>
      <p:ext uri="{BB962C8B-B14F-4D97-AF65-F5344CB8AC3E}">
        <p14:creationId xmlns:p14="http://schemas.microsoft.com/office/powerpoint/2010/main" val="11042618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1C64B-2155-37F5-595A-D28CC6E2FA95}"/>
              </a:ext>
            </a:extLst>
          </p:cNvPr>
          <p:cNvSpPr>
            <a:spLocks noGrp="1"/>
          </p:cNvSpPr>
          <p:nvPr>
            <p:ph type="title"/>
          </p:nvPr>
        </p:nvSpPr>
        <p:spPr/>
        <p:txBody>
          <a:bodyPr/>
          <a:lstStyle/>
          <a:p>
            <a:r>
              <a:rPr lang="en-US" dirty="0"/>
              <a:t>Step 6: </a:t>
            </a:r>
            <a:r>
              <a:rPr lang="en-US" dirty="0" err="1"/>
              <a:t>ReLU</a:t>
            </a:r>
            <a:r>
              <a:rPr lang="en-US" dirty="0"/>
              <a:t> Activation &amp; 2x2 Pooling to 64x64</a:t>
            </a:r>
            <a:endParaRPr lang="en-GB" dirty="0"/>
          </a:p>
        </p:txBody>
      </p:sp>
      <p:sp>
        <p:nvSpPr>
          <p:cNvPr id="3" name="Content Placeholder 2">
            <a:extLst>
              <a:ext uri="{FF2B5EF4-FFF2-40B4-BE49-F238E27FC236}">
                <a16:creationId xmlns:a16="http://schemas.microsoft.com/office/drawing/2014/main" id="{E3923EA8-7ACC-7F27-F1A9-FF1A039DAA26}"/>
              </a:ext>
            </a:extLst>
          </p:cNvPr>
          <p:cNvSpPr>
            <a:spLocks noGrp="1"/>
          </p:cNvSpPr>
          <p:nvPr>
            <p:ph idx="1"/>
          </p:nvPr>
        </p:nvSpPr>
        <p:spPr/>
        <p:txBody>
          <a:bodyPr/>
          <a:lstStyle/>
          <a:p>
            <a:r>
              <a:rPr lang="en-US" dirty="0"/>
              <a:t>After sharpening, the </a:t>
            </a:r>
            <a:r>
              <a:rPr lang="en-US" dirty="0" err="1"/>
              <a:t>ReLU</a:t>
            </a:r>
            <a:r>
              <a:rPr lang="en-US" dirty="0"/>
              <a:t> activation function removes negative values, keeping only strong feature responses. This introduces non-linearity, allowing CNNs to learn complex patterns. The 2×2 pooling step further compresses the data to 64×64, preserving the most meaningful activations and preparing the image for classification layers efficiently.</a:t>
            </a:r>
            <a:endParaRPr lang="en-GB" dirty="0"/>
          </a:p>
        </p:txBody>
      </p:sp>
    </p:spTree>
    <p:extLst>
      <p:ext uri="{BB962C8B-B14F-4D97-AF65-F5344CB8AC3E}">
        <p14:creationId xmlns:p14="http://schemas.microsoft.com/office/powerpoint/2010/main" val="10562911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D3781-2DAE-C7E3-3290-A578754EA457}"/>
              </a:ext>
            </a:extLst>
          </p:cNvPr>
          <p:cNvSpPr>
            <a:spLocks noGrp="1"/>
          </p:cNvSpPr>
          <p:nvPr>
            <p:ph type="title"/>
          </p:nvPr>
        </p:nvSpPr>
        <p:spPr/>
        <p:txBody>
          <a:bodyPr/>
          <a:lstStyle/>
          <a:p>
            <a:r>
              <a:rPr lang="en-GB" dirty="0"/>
              <a:t>Full Preprocessing Pipeline Overview</a:t>
            </a:r>
          </a:p>
        </p:txBody>
      </p:sp>
      <p:sp>
        <p:nvSpPr>
          <p:cNvPr id="3" name="Content Placeholder 2">
            <a:extLst>
              <a:ext uri="{FF2B5EF4-FFF2-40B4-BE49-F238E27FC236}">
                <a16:creationId xmlns:a16="http://schemas.microsoft.com/office/drawing/2014/main" id="{CA347884-0571-7D7A-8478-E5B5860B5930}"/>
              </a:ext>
            </a:extLst>
          </p:cNvPr>
          <p:cNvSpPr>
            <a:spLocks noGrp="1"/>
          </p:cNvSpPr>
          <p:nvPr>
            <p:ph idx="1"/>
          </p:nvPr>
        </p:nvSpPr>
        <p:spPr/>
        <p:txBody>
          <a:bodyPr/>
          <a:lstStyle/>
          <a:p>
            <a:r>
              <a:rPr lang="en-US" dirty="0"/>
              <a:t>Combining all preprocessing stages creates a clean, efficient input pipeline for CNNs. Starting from color images, the sequence of grayscale, blur, Sobel, sharpening, and pooling ensures robust feature extraction. Each layer transforms the image data, reducing noise while enhancing the shapes and textures critical for accurate classification.</a:t>
            </a:r>
            <a:endParaRPr lang="en-GB" dirty="0"/>
          </a:p>
        </p:txBody>
      </p:sp>
    </p:spTree>
    <p:extLst>
      <p:ext uri="{BB962C8B-B14F-4D97-AF65-F5344CB8AC3E}">
        <p14:creationId xmlns:p14="http://schemas.microsoft.com/office/powerpoint/2010/main" val="40033063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6DEDA-89F1-4950-7489-84800CCF0DB1}"/>
              </a:ext>
            </a:extLst>
          </p:cNvPr>
          <p:cNvSpPr>
            <a:spLocks noGrp="1"/>
          </p:cNvSpPr>
          <p:nvPr>
            <p:ph type="title"/>
          </p:nvPr>
        </p:nvSpPr>
        <p:spPr/>
        <p:txBody>
          <a:bodyPr/>
          <a:lstStyle/>
          <a:p>
            <a:r>
              <a:rPr lang="en-US" dirty="0"/>
              <a:t>Why Preprocessing Matters in CNNs</a:t>
            </a:r>
            <a:endParaRPr lang="en-GB" dirty="0"/>
          </a:p>
        </p:txBody>
      </p:sp>
      <p:sp>
        <p:nvSpPr>
          <p:cNvPr id="3" name="Content Placeholder 2">
            <a:extLst>
              <a:ext uri="{FF2B5EF4-FFF2-40B4-BE49-F238E27FC236}">
                <a16:creationId xmlns:a16="http://schemas.microsoft.com/office/drawing/2014/main" id="{8205D6A0-F0FF-9C0A-1D64-737E89AE2AD0}"/>
              </a:ext>
            </a:extLst>
          </p:cNvPr>
          <p:cNvSpPr>
            <a:spLocks noGrp="1"/>
          </p:cNvSpPr>
          <p:nvPr>
            <p:ph idx="1"/>
          </p:nvPr>
        </p:nvSpPr>
        <p:spPr/>
        <p:txBody>
          <a:bodyPr/>
          <a:lstStyle/>
          <a:p>
            <a:r>
              <a:rPr lang="en-US" dirty="0"/>
              <a:t>Effective preprocessing boosts CNN accuracy, stability, and training efficiency. By standardizing inputs and emphasizing relevant features, it reduces overfitting and noise sensitivity. Each preprocessing filter plays a specific role enhancing edges, removing redundancy, and simplifying patterns resulting in clearer, more meaningful representations for deep learning models.</a:t>
            </a:r>
            <a:endParaRPr lang="en-GB" dirty="0"/>
          </a:p>
        </p:txBody>
      </p:sp>
    </p:spTree>
    <p:extLst>
      <p:ext uri="{BB962C8B-B14F-4D97-AF65-F5344CB8AC3E}">
        <p14:creationId xmlns:p14="http://schemas.microsoft.com/office/powerpoint/2010/main" val="23615470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rPr dirty="0"/>
              <a:t>CNNs revolutionized machine perception through hierarchical feature learning.</a:t>
            </a:r>
          </a:p>
          <a:p>
            <a:r>
              <a:rPr dirty="0"/>
              <a:t>ONNs represent a </a:t>
            </a:r>
            <a:r>
              <a:rPr lang="en-GB" dirty="0"/>
              <a:t>future</a:t>
            </a:r>
            <a:r>
              <a:rPr dirty="0"/>
              <a:t> shift in hardware for AI.</a:t>
            </a:r>
          </a:p>
          <a:p>
            <a:r>
              <a:rPr dirty="0"/>
              <a:t> Research continues toward faster, greener, and more interpretable models.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r>
              <a:t>Questions and Discussion</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0</TotalTime>
  <Words>1501</Words>
  <Application>Microsoft Office PowerPoint</Application>
  <PresentationFormat>On-screen Show (4:3)</PresentationFormat>
  <Paragraphs>78</Paragraphs>
  <Slides>22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Tw Cen MT</vt:lpstr>
      <vt:lpstr>Circuit</vt:lpstr>
      <vt:lpstr>Introduction</vt:lpstr>
      <vt:lpstr>How DO CNNs work?</vt:lpstr>
      <vt:lpstr>Historical Development</vt:lpstr>
      <vt:lpstr>Applications of CNNs in Research and Industry</vt:lpstr>
      <vt:lpstr>Case Study - amazon</vt:lpstr>
      <vt:lpstr>Case Study — Tesla Autopilot</vt:lpstr>
      <vt:lpstr>Case Study — Hyperverge</vt:lpstr>
      <vt:lpstr>Case Study — Viz.ai</vt:lpstr>
      <vt:lpstr>Limitations of CNNs</vt:lpstr>
      <vt:lpstr>What are Optical Neural Networks (ONNs)</vt:lpstr>
      <vt:lpstr>Activity Lets get into the thick of it</vt:lpstr>
      <vt:lpstr>Introduction to CNN Preprocessing</vt:lpstr>
      <vt:lpstr>Step 1: Grayscale Kernel Conversion</vt:lpstr>
      <vt:lpstr>Step 2: Gaussian Blur Filtering</vt:lpstr>
      <vt:lpstr>Step 3: Sobel Edge Detection</vt:lpstr>
      <vt:lpstr>Pooling and Downsampling</vt:lpstr>
      <vt:lpstr>Step 5: Sharpening Filter Application</vt:lpstr>
      <vt:lpstr>Step 6: ReLU Activation &amp; 2x2 Pooling to 64x64</vt:lpstr>
      <vt:lpstr>Full Preprocessing Pipeline Overview</vt:lpstr>
      <vt:lpstr>Why Preprocessing Matters in CNNs</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Kayden</dc:creator>
  <cp:keywords/>
  <dc:description>generated using python-pptx</dc:description>
  <cp:lastModifiedBy>rhyan.bushi</cp:lastModifiedBy>
  <cp:revision>3</cp:revision>
  <dcterms:created xsi:type="dcterms:W3CDTF">2013-01-27T09:14:16Z</dcterms:created>
  <dcterms:modified xsi:type="dcterms:W3CDTF">2025-10-11T19:53:56Z</dcterms:modified>
  <cp:category/>
</cp:coreProperties>
</file>